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58" r:id="rId7"/>
    <p:sldId id="487" r:id="rId8"/>
    <p:sldId id="492" r:id="rId9"/>
    <p:sldId id="488" r:id="rId10"/>
    <p:sldId id="490" r:id="rId11"/>
    <p:sldId id="491" r:id="rId12"/>
    <p:sldId id="486" r:id="rId13"/>
    <p:sldId id="471" r:id="rId14"/>
    <p:sldId id="475" r:id="rId15"/>
    <p:sldId id="477" r:id="rId16"/>
    <p:sldId id="276" r:id="rId17"/>
    <p:sldId id="277" r:id="rId18"/>
    <p:sldId id="259" r:id="rId19"/>
    <p:sldId id="260" r:id="rId20"/>
    <p:sldId id="448" r:id="rId21"/>
    <p:sldId id="449" r:id="rId22"/>
    <p:sldId id="450" r:id="rId23"/>
    <p:sldId id="451" r:id="rId24"/>
    <p:sldId id="469" r:id="rId25"/>
    <p:sldId id="470" r:id="rId26"/>
    <p:sldId id="269" r:id="rId27"/>
    <p:sldId id="272" r:id="rId28"/>
    <p:sldId id="454" r:id="rId2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76929B-08BD-5EEC-0F90-C5C632FB46DF}" v="5" dt="2025-10-06T09:45:23.57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189" y="6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31C35-559D-416B-8970-927A7125A225}" type="datetimeFigureOut">
              <a:t>3/2/2026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DD7A6C-9C12-4EC7-8A32-A1A8FC6CD650}" type="slidenum"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1438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0DFA-7010-8857-3A5F-62D5179A3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E2CF5B-8452-F180-7B74-F587051B0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0E5D5-DD72-4503-9DE1-5DBF7043E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D4DE9-CE4F-CD7A-3D29-99933FEAB6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782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7" y="13529"/>
            <a:ext cx="6400483" cy="59686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424310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62957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749" y="72897"/>
            <a:ext cx="11728500" cy="5880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3005" y="2773679"/>
            <a:ext cx="9501505" cy="34486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9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7169"/>
            <a:ext cx="12198940" cy="687095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91616" y="6458813"/>
            <a:ext cx="74422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>
                <a:latin typeface="Arial"/>
                <a:cs typeface="Arial"/>
              </a:rPr>
              <a:t>4</a:t>
            </a:r>
            <a:r>
              <a:rPr sz="900" b="1" spc="40">
                <a:latin typeface="Arial"/>
                <a:cs typeface="Arial"/>
              </a:rPr>
              <a:t> </a:t>
            </a:r>
            <a:r>
              <a:rPr sz="900" b="1" spc="90">
                <a:latin typeface="Arial"/>
                <a:cs typeface="Arial"/>
              </a:rPr>
              <a:t>/</a:t>
            </a:r>
            <a:r>
              <a:rPr sz="900" b="1" spc="35">
                <a:latin typeface="Arial"/>
                <a:cs typeface="Arial"/>
              </a:rPr>
              <a:t> </a:t>
            </a:r>
            <a:r>
              <a:rPr sz="900" b="1">
                <a:latin typeface="Arial"/>
                <a:cs typeface="Arial"/>
              </a:rPr>
              <a:t>8</a:t>
            </a:r>
            <a:r>
              <a:rPr sz="900" b="1" spc="35">
                <a:latin typeface="Arial"/>
                <a:cs typeface="Arial"/>
              </a:rPr>
              <a:t> </a:t>
            </a:r>
            <a:r>
              <a:rPr sz="900" b="1" spc="90">
                <a:latin typeface="Arial"/>
                <a:cs typeface="Arial"/>
              </a:rPr>
              <a:t>/</a:t>
            </a:r>
            <a:r>
              <a:rPr sz="900" b="1" spc="20">
                <a:latin typeface="Arial"/>
                <a:cs typeface="Arial"/>
              </a:rPr>
              <a:t> </a:t>
            </a:r>
            <a:r>
              <a:rPr sz="900" b="1">
                <a:latin typeface="Arial"/>
                <a:cs typeface="Arial"/>
              </a:rPr>
              <a:t>2</a:t>
            </a:r>
            <a:r>
              <a:rPr sz="900" b="1" spc="35">
                <a:latin typeface="Arial"/>
                <a:cs typeface="Arial"/>
              </a:rPr>
              <a:t> </a:t>
            </a:r>
            <a:r>
              <a:rPr sz="900" b="1">
                <a:latin typeface="Arial"/>
                <a:cs typeface="Arial"/>
              </a:rPr>
              <a:t>0</a:t>
            </a:r>
            <a:r>
              <a:rPr sz="900" b="1" spc="30">
                <a:latin typeface="Arial"/>
                <a:cs typeface="Arial"/>
              </a:rPr>
              <a:t> </a:t>
            </a:r>
            <a:r>
              <a:rPr sz="900" b="1">
                <a:latin typeface="Arial"/>
                <a:cs typeface="Arial"/>
              </a:rPr>
              <a:t>2</a:t>
            </a:r>
            <a:r>
              <a:rPr sz="900" b="1" spc="20">
                <a:latin typeface="Arial"/>
                <a:cs typeface="Arial"/>
              </a:rPr>
              <a:t> </a:t>
            </a:r>
            <a:r>
              <a:rPr sz="900" b="1" spc="-50">
                <a:latin typeface="Arial"/>
                <a:cs typeface="Arial"/>
              </a:rPr>
              <a:t>5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7130" y="6458813"/>
            <a:ext cx="8636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b="1" spc="-50">
                <a:latin typeface="Arial"/>
                <a:cs typeface="Arial"/>
              </a:rPr>
              <a:t>1</a:t>
            </a:r>
            <a:endParaRPr sz="9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55821" y="726566"/>
            <a:ext cx="3790630" cy="14310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7165" y="2684144"/>
            <a:ext cx="11124600" cy="148951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r>
              <a:rPr lang="en-US" sz="4800" b="0" spc="-520" dirty="0"/>
              <a:t>T</a:t>
            </a:r>
            <a:r>
              <a:rPr lang="en-US" sz="4800" b="0" spc="-145" dirty="0"/>
              <a:t>ec</a:t>
            </a:r>
            <a:r>
              <a:rPr lang="en-US" sz="4800" b="0" spc="-155" dirty="0"/>
              <a:t>hni</a:t>
            </a:r>
            <a:r>
              <a:rPr lang="en-US" sz="4800" b="0" spc="-185" dirty="0"/>
              <a:t>c</a:t>
            </a:r>
            <a:r>
              <a:rPr lang="en-US" sz="4800" b="0" spc="-145" dirty="0"/>
              <a:t>a</a:t>
            </a:r>
            <a:r>
              <a:rPr lang="en-US" sz="4800" b="0" spc="35" dirty="0"/>
              <a:t>l</a:t>
            </a:r>
            <a:r>
              <a:rPr lang="en-US" sz="4800" b="0" spc="15" dirty="0"/>
              <a:t> Commercial </a:t>
            </a:r>
            <a:r>
              <a:rPr lang="en-US" sz="4800" b="0" spc="-25" dirty="0"/>
              <a:t>Document</a:t>
            </a:r>
            <a:r>
              <a:rPr lang="en-US" sz="4800" b="0" spc="-200" dirty="0"/>
              <a:t> </a:t>
            </a:r>
            <a:r>
              <a:rPr lang="en-US" sz="4800" b="0" spc="-40" dirty="0"/>
              <a:t>for</a:t>
            </a:r>
            <a:r>
              <a:rPr lang="en-US" sz="4800" b="0" spc="-185" dirty="0"/>
              <a:t> </a:t>
            </a:r>
            <a:r>
              <a:rPr lang="en-IN" sz="4800" b="0" spc="-50" dirty="0">
                <a:solidFill>
                  <a:srgbClr val="FFFFFF"/>
                </a:solidFill>
                <a:ea typeface="Calibri"/>
              </a:rPr>
              <a:t>:- Arrow Pipes AI </a:t>
            </a:r>
            <a:r>
              <a:rPr lang="en-US" sz="4400" b="0" dirty="0">
                <a:solidFill>
                  <a:srgbClr val="FFFFFF"/>
                </a:solidFill>
                <a:ea typeface="Calibri"/>
              </a:rPr>
              <a:t>Application Modules Development  </a:t>
            </a:r>
            <a:endParaRPr lang="en-IN" sz="4400" b="0" dirty="0">
              <a:solidFill>
                <a:srgbClr val="FFFFFF"/>
              </a:solidFill>
              <a:ea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136651"/>
            <a:ext cx="156083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 err="1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Cambria" panose="02040503050406030204" pitchFamily="18" charset="0"/>
              </a:rPr>
              <a:t>Cylsys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Cambria" panose="02040503050406030204" pitchFamily="18" charset="0"/>
              </a:rPr>
              <a:t>, Mumbai. </a:t>
            </a:r>
            <a:r>
              <a:rPr lang="en-US" altLang="en-US" sz="1000">
                <a:solidFill>
                  <a:srgbClr val="FFFFFF"/>
                </a:solidFill>
                <a:latin typeface="Arial" panose="020B0604020202020204" pitchFamily="34" charset="0"/>
                <a:cs typeface="Cambria" panose="02040503050406030204" pitchFamily="18" charset="0"/>
              </a:rPr>
              <a:t>Sep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Cambria" panose="02040503050406030204" pitchFamily="18" charset="0"/>
              </a:rPr>
              <a:t> 2025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C5025F1C-82C3-37C7-A6D9-EB3404BD6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3186" y="4650341"/>
            <a:ext cx="4048125" cy="1238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73951" y="860882"/>
            <a:ext cx="1970405" cy="444500"/>
            <a:chOff x="373951" y="860882"/>
            <a:chExt cx="1970405" cy="444500"/>
          </a:xfrm>
        </p:grpSpPr>
        <p:sp>
          <p:nvSpPr>
            <p:cNvPr id="3" name="object 3"/>
            <p:cNvSpPr/>
            <p:nvPr/>
          </p:nvSpPr>
          <p:spPr>
            <a:xfrm>
              <a:off x="990600" y="1030986"/>
              <a:ext cx="979169" cy="0"/>
            </a:xfrm>
            <a:custGeom>
              <a:avLst/>
              <a:gdLst/>
              <a:ahLst/>
              <a:cxnLst/>
              <a:rect l="l" t="t" r="r" b="b"/>
              <a:pathLst>
                <a:path w="979169">
                  <a:moveTo>
                    <a:pt x="0" y="0"/>
                  </a:moveTo>
                  <a:lnTo>
                    <a:pt x="978916" y="0"/>
                  </a:lnTo>
                </a:path>
              </a:pathLst>
            </a:custGeom>
            <a:ln w="76200">
              <a:solidFill>
                <a:srgbClr val="1873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73951" y="860882"/>
              <a:ext cx="1970405" cy="444500"/>
            </a:xfrm>
            <a:custGeom>
              <a:avLst/>
              <a:gdLst/>
              <a:ahLst/>
              <a:cxnLst/>
              <a:rect l="l" t="t" r="r" b="b"/>
              <a:pathLst>
                <a:path w="1970405" h="444500">
                  <a:moveTo>
                    <a:pt x="1970405" y="0"/>
                  </a:moveTo>
                  <a:lnTo>
                    <a:pt x="0" y="0"/>
                  </a:lnTo>
                  <a:lnTo>
                    <a:pt x="0" y="443915"/>
                  </a:lnTo>
                  <a:lnTo>
                    <a:pt x="1970405" y="443915"/>
                  </a:lnTo>
                  <a:lnTo>
                    <a:pt x="19704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7619" y="83185"/>
            <a:ext cx="1614804" cy="5629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594461" y="982726"/>
            <a:ext cx="10351770" cy="848994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800" err="1">
                <a:latin typeface="Calibri"/>
                <a:cs typeface="Calibri"/>
              </a:rPr>
              <a:t>Cylsys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will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responsible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for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full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development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lang="en-US" spc="-30">
                <a:latin typeface="Calibri"/>
                <a:cs typeface="Calibri"/>
              </a:rPr>
              <a:t> CRM</a:t>
            </a:r>
            <a:r>
              <a:rPr lang="en-US">
                <a:latin typeface="Calibri"/>
                <a:cs typeface="Calibri"/>
              </a:rPr>
              <a:t> </a:t>
            </a:r>
            <a:r>
              <a:rPr sz="1800" spc="-10">
                <a:latin typeface="Calibri"/>
                <a:cs typeface="Calibri"/>
              </a:rPr>
              <a:t>application, </a:t>
            </a:r>
            <a:r>
              <a:rPr sz="1800">
                <a:latin typeface="Calibri"/>
                <a:cs typeface="Calibri"/>
              </a:rPr>
              <a:t>handling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all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aspects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system </a:t>
            </a:r>
            <a:r>
              <a:rPr sz="1800">
                <a:latin typeface="Calibri"/>
                <a:cs typeface="Calibri"/>
              </a:rPr>
              <a:t>design,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backend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development,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API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integration.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However,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client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team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will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collaborate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closely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with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 spc="-10" err="1">
                <a:latin typeface="Calibri"/>
                <a:cs typeface="Calibri"/>
              </a:rPr>
              <a:t>Cylsys</a:t>
            </a:r>
            <a:r>
              <a:rPr sz="1800" spc="-1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on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specific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tasks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work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items.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94461" y="6040323"/>
            <a:ext cx="10431780" cy="57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alibri"/>
                <a:cs typeface="Calibri"/>
              </a:rPr>
              <a:t>This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collaborative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approach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will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ensure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robust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effective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solution,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meeting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client’s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needs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efficiently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25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800" spc="-10">
                <a:latin typeface="Calibri"/>
                <a:cs typeface="Calibri"/>
              </a:rPr>
              <a:t>transparently.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>
                <a:solidFill>
                  <a:srgbClr val="000000"/>
                </a:solidFill>
              </a:rPr>
              <a:t>Integration</a:t>
            </a:r>
            <a:r>
              <a:rPr sz="2000" spc="-35">
                <a:solidFill>
                  <a:srgbClr val="000000"/>
                </a:solidFill>
              </a:rPr>
              <a:t> </a:t>
            </a:r>
            <a:r>
              <a:rPr sz="2000">
                <a:solidFill>
                  <a:srgbClr val="000000"/>
                </a:solidFill>
              </a:rPr>
              <a:t>Project</a:t>
            </a:r>
            <a:r>
              <a:rPr sz="2000" spc="-40">
                <a:solidFill>
                  <a:srgbClr val="000000"/>
                </a:solidFill>
              </a:rPr>
              <a:t> </a:t>
            </a:r>
            <a:r>
              <a:rPr sz="2000">
                <a:solidFill>
                  <a:srgbClr val="000000"/>
                </a:solidFill>
              </a:rPr>
              <a:t>Methodology</a:t>
            </a:r>
            <a:r>
              <a:rPr sz="2000" spc="-50">
                <a:solidFill>
                  <a:srgbClr val="000000"/>
                </a:solidFill>
              </a:rPr>
              <a:t> </a:t>
            </a:r>
            <a:r>
              <a:rPr sz="2000">
                <a:solidFill>
                  <a:srgbClr val="000000"/>
                </a:solidFill>
              </a:rPr>
              <a:t>and</a:t>
            </a:r>
            <a:r>
              <a:rPr sz="2000" spc="-30">
                <a:solidFill>
                  <a:srgbClr val="000000"/>
                </a:solidFill>
              </a:rPr>
              <a:t> </a:t>
            </a:r>
            <a:r>
              <a:rPr sz="2000" spc="-10">
                <a:solidFill>
                  <a:srgbClr val="000000"/>
                </a:solidFill>
              </a:rPr>
              <a:t>Responsibilities</a:t>
            </a:r>
            <a:endParaRPr sz="2000"/>
          </a:p>
        </p:txBody>
      </p:sp>
      <p:pic>
        <p:nvPicPr>
          <p:cNvPr id="12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B08C107C-120F-771D-6712-01C6822FB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diagram of a project">
            <a:extLst>
              <a:ext uri="{FF2B5EF4-FFF2-40B4-BE49-F238E27FC236}">
                <a16:creationId xmlns:a16="http://schemas.microsoft.com/office/drawing/2014/main" id="{CDE616A9-278A-6044-9AF2-A30EA6A4BDC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" b="3359"/>
          <a:stretch>
            <a:fillRect/>
          </a:stretch>
        </p:blipFill>
        <p:spPr>
          <a:xfrm>
            <a:off x="1060192" y="1826411"/>
            <a:ext cx="8903919" cy="40295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7334" y="83808"/>
            <a:ext cx="6408950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000" spc="-40">
                <a:solidFill>
                  <a:srgbClr val="000000"/>
                </a:solidFill>
              </a:rPr>
              <a:t>Executive Summary – Arrow Pipes CRM + Azure AI Solution</a:t>
            </a:r>
            <a:endParaRPr lang="en-US" sz="2000">
              <a:ea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A363BEDD-5EF1-4112-4181-239859F76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6A19E0-6230-13AF-E9A6-75C03435EDD8}"/>
              </a:ext>
            </a:extLst>
          </p:cNvPr>
          <p:cNvSpPr txBox="1"/>
          <p:nvPr/>
        </p:nvSpPr>
        <p:spPr>
          <a:xfrm>
            <a:off x="572052" y="1024835"/>
            <a:ext cx="10274851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b="1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Challenges at Arrow Pipes:</a:t>
            </a:r>
            <a:endParaRPr lang="en-US" b="1">
              <a:solidFill>
                <a:schemeClr val="tx1"/>
              </a:solidFill>
              <a:ea typeface="+mn-ea"/>
              <a:cs typeface="+mn-cs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Manual enquiry → quote delays (2–3 days)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No AI insights → pricing &amp; compliance errors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Manual follow-ups → low engagement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Limited reporting → no real-time view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7345" indent="-347345" algn="l" rtl="0">
              <a:buAutoNum type="arabicPeriod"/>
            </a:pPr>
            <a:endParaRPr lang="en-US" b="1"/>
          </a:p>
          <a:p>
            <a:pPr algn="l" rtl="0"/>
            <a:r>
              <a:rPr lang="en-US" b="1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Our Solution:</a:t>
            </a:r>
            <a:endParaRPr lang="en-US" b="1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Azure AI-powered CRM integrated with ERP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Automated quotations, compliance validation, proactive follow-ups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WhatsApp Bot for 24×7 customer service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7345" indent="-347345" algn="l" rtl="0">
              <a:buAutoNum type="arabicPeriod"/>
            </a:pPr>
            <a:endParaRPr lang="en-US" b="1"/>
          </a:p>
          <a:p>
            <a:pPr algn="l" rtl="0"/>
            <a:r>
              <a:rPr lang="en-US" b="1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Business Outcomes:</a:t>
            </a:r>
            <a:endParaRPr lang="en-US" b="1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Quote TAT reduced from 2–3 days → few hours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Win-rate +15–20%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- 90% fewer compliance/document errors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42900" indent="-342900" algn="l" rtl="0">
              <a:buAutoNum type="arabicPeriod"/>
            </a:pPr>
            <a:r>
              <a:rPr lang="en-US" kern="1200">
                <a:solidFill>
                  <a:schemeClr val="tx1"/>
                </a:solidFill>
                <a:latin typeface="Calibri"/>
                <a:ea typeface="+mn-ea"/>
                <a:cs typeface="+mn-cs"/>
              </a:rPr>
              <a:t>- Real-time dashboards → better decisions</a:t>
            </a:r>
            <a:endParaRPr lang="en-US" kern="120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C060BDE-98BD-9CB6-3CB0-00B57BA27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7DC482AE-27B8-370B-3ACA-192B54FAE52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7D46E76-F0EB-B347-B6B6-CC491BA936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34" y="95013"/>
            <a:ext cx="5859862" cy="76431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000" spc="-40">
                <a:solidFill>
                  <a:schemeClr val="tx1"/>
                </a:solidFill>
              </a:rPr>
              <a:t>Challenges at Arrow Pipes:</a:t>
            </a:r>
            <a:endParaRPr lang="en-US" sz="2000" b="0" spc="-40">
              <a:solidFill>
                <a:schemeClr val="tx1"/>
              </a:solidFill>
              <a:ea typeface="Calibri"/>
            </a:endParaRPr>
          </a:p>
          <a:p>
            <a:pPr marL="12700">
              <a:spcBef>
                <a:spcPts val="100"/>
              </a:spcBef>
            </a:pPr>
            <a:endParaRPr lang="en-US" sz="2800" b="0" spc="-40">
              <a:solidFill>
                <a:srgbClr val="000000"/>
              </a:solidFill>
              <a:ea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0D494F4E-CABC-2306-ACAA-5A1F6526D89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A81F013F-5DE8-0F3B-7C2E-59E56A9F1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D11E23-903F-E914-95C7-47909F040339}"/>
              </a:ext>
            </a:extLst>
          </p:cNvPr>
          <p:cNvSpPr txBox="1"/>
          <p:nvPr/>
        </p:nvSpPr>
        <p:spPr>
          <a:xfrm>
            <a:off x="572053" y="605183"/>
            <a:ext cx="1103685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r>
              <a:rPr lang="en-US" b="1"/>
              <a:t>Manual Enquiry → Quote Delays (2–3 days)</a:t>
            </a:r>
            <a:br>
              <a:rPr lang="en-US" b="1"/>
            </a:br>
            <a:endParaRPr lang="en-US"/>
          </a:p>
          <a:p>
            <a:pPr marL="228600" lvl="1" indent="-228600">
              <a:buFont typeface=""/>
              <a:buAutoNum type="arabicPeriod"/>
            </a:pPr>
            <a:r>
              <a:rPr lang="en-US"/>
              <a:t>Currently, enquiries received via email are processed manually.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Each request requires manual classification, SKU mapping, stock verification, and quotation preparation.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This results in turnaround times of 2–3 working days, which delays client responses and increases the chances of losing business to faster competitors.</a:t>
            </a:r>
            <a:br>
              <a:rPr lang="en-US"/>
            </a:br>
            <a:endParaRPr lang="en-US"/>
          </a:p>
          <a:p>
            <a:r>
              <a:rPr lang="en-US" b="1"/>
              <a:t>No AI Insights → Pricing &amp; Compliance Errors</a:t>
            </a:r>
            <a:br>
              <a:rPr lang="en-US" b="1"/>
            </a:br>
            <a:endParaRPr lang="en-US"/>
          </a:p>
          <a:p>
            <a:pPr marL="228600" lvl="1" indent="-228600">
              <a:buFont typeface=""/>
              <a:buAutoNum type="arabicPeriod"/>
            </a:pPr>
            <a:r>
              <a:rPr lang="en-US"/>
              <a:t>Quotation pricing is heavily dependent on manual lookups and historical references.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Without AI-based validation, errors occur in MTC (Material Test Certificates), CoC, and compliance documents.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Inconsistent pricing and compliance gaps reduce credibility and can also lead to financial loss or regulatory risks.</a:t>
            </a:r>
          </a:p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368810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22CA468-E098-DBD1-640A-EC9731017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28854D2-0ACD-2C14-6EB8-989191A2E51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4C74EB79-4878-DC27-810D-7B9B3E241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34" y="95013"/>
            <a:ext cx="5859862" cy="76431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000" spc="-40">
                <a:solidFill>
                  <a:schemeClr val="tx1"/>
                </a:solidFill>
              </a:rPr>
              <a:t>Challenges at Arrow Pipes:</a:t>
            </a:r>
            <a:endParaRPr lang="en-US" sz="2000" b="0" spc="-40">
              <a:solidFill>
                <a:schemeClr val="tx1"/>
              </a:solidFill>
              <a:ea typeface="Calibri"/>
            </a:endParaRPr>
          </a:p>
          <a:p>
            <a:pPr marL="12700">
              <a:spcBef>
                <a:spcPts val="100"/>
              </a:spcBef>
            </a:pPr>
            <a:endParaRPr lang="en-US" sz="2800" b="0" spc="-40">
              <a:solidFill>
                <a:srgbClr val="000000"/>
              </a:solidFill>
              <a:ea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A007C9B0-EADD-6C83-2AB3-E492531BCC0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63DC05D7-471E-5243-0181-1E42263F88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139785-B4FE-DFE6-2B67-496E11434A1F}"/>
              </a:ext>
            </a:extLst>
          </p:cNvPr>
          <p:cNvSpPr txBox="1"/>
          <p:nvPr/>
        </p:nvSpPr>
        <p:spPr>
          <a:xfrm>
            <a:off x="572053" y="605183"/>
            <a:ext cx="11036850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b="1"/>
          </a:p>
          <a:p>
            <a:endParaRPr lang="en-US" b="1"/>
          </a:p>
          <a:p>
            <a:r>
              <a:rPr lang="en-US" b="1"/>
              <a:t>Manual Follow-ups → Low Customer Engagement</a:t>
            </a:r>
            <a:br>
              <a:rPr lang="en-US" b="1"/>
            </a:br>
            <a:endParaRPr lang="en-US"/>
          </a:p>
          <a:p>
            <a:pPr marL="228600" lvl="1" indent="-228600">
              <a:buFont typeface=""/>
              <a:buAutoNum type="arabicPeriod"/>
            </a:pPr>
            <a:r>
              <a:rPr lang="en-US"/>
              <a:t>Sales teams are manually sending follow-ups through emails or calls.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Inconsistent tracking means some leads are over-contacted while others are completely missed.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This leads to poor client experience, lower conversion ratios, and missed upsell opportunities.</a:t>
            </a:r>
            <a:br>
              <a:rPr lang="en-US"/>
            </a:br>
            <a:endParaRPr lang="en-US"/>
          </a:p>
          <a:p>
            <a:r>
              <a:rPr lang="en-US" b="1"/>
              <a:t>Limited Reporting → No Real-Time View</a:t>
            </a:r>
            <a:br>
              <a:rPr lang="en-US" b="1"/>
            </a:br>
            <a:endParaRPr lang="en-US"/>
          </a:p>
          <a:p>
            <a:pPr marL="228600" lvl="1" indent="-228600">
              <a:buFont typeface=""/>
              <a:buAutoNum type="arabicPeriod"/>
            </a:pPr>
            <a:r>
              <a:rPr lang="en-US"/>
              <a:t>Current reporting relies on Excel sheets and scattered data, which lacks centralization.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Management cannot view real-time performance dashboards for pipeline, conversion rates, TAT, or customer satisfaction.</a:t>
            </a:r>
          </a:p>
          <a:p>
            <a:pPr marL="228600" lvl="1" indent="-228600">
              <a:buFont typeface=""/>
              <a:buAutoNum type="arabicPeriod"/>
            </a:pPr>
            <a:r>
              <a:rPr lang="en-US"/>
              <a:t>Decisions are reactive instead of proactive, resulting in reduced efficiency and delayed corrective action.</a:t>
            </a:r>
          </a:p>
        </p:txBody>
      </p:sp>
    </p:spTree>
    <p:extLst>
      <p:ext uri="{BB962C8B-B14F-4D97-AF65-F5344CB8AC3E}">
        <p14:creationId xmlns:p14="http://schemas.microsoft.com/office/powerpoint/2010/main" val="3627474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2D4EC8-5A51-40C4-797D-DDE979DAA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7B7977C-817A-8EC7-B2D1-15F52AFFFB7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92D38C4-9C3F-4F03-33FD-BBA5BE85D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34" y="95013"/>
            <a:ext cx="5859862" cy="764312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000" spc="-40">
                <a:solidFill>
                  <a:srgbClr val="000000"/>
                </a:solidFill>
              </a:rPr>
              <a:t>Our Solution</a:t>
            </a:r>
            <a:endParaRPr lang="en-US" sz="2000" b="0" spc="-40">
              <a:solidFill>
                <a:srgbClr val="000000"/>
              </a:solidFill>
              <a:ea typeface="Calibri"/>
            </a:endParaRPr>
          </a:p>
          <a:p>
            <a:pPr marL="12700">
              <a:spcBef>
                <a:spcPts val="100"/>
              </a:spcBef>
            </a:pPr>
            <a:endParaRPr lang="en-US" sz="2800" b="0" spc="-40">
              <a:solidFill>
                <a:srgbClr val="000000"/>
              </a:solidFill>
              <a:ea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432B4A8-FB05-E716-6845-4C540E9923A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20E8C993-7EF0-4A18-8E34-623F3BEF5B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C13748-F18F-8CFC-6411-0F1EE5F0FC9E}"/>
              </a:ext>
            </a:extLst>
          </p:cNvPr>
          <p:cNvSpPr txBox="1"/>
          <p:nvPr/>
        </p:nvSpPr>
        <p:spPr>
          <a:xfrm>
            <a:off x="572053" y="605183"/>
            <a:ext cx="11036850" cy="59093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tx1"/>
                </a:solidFill>
              </a:rPr>
              <a:t>Azure AI-Powered CRM Integrated with ERP</a:t>
            </a:r>
            <a:br>
              <a:rPr lang="en-US" b="1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A next-generation Customer Relationship Management (CRM) platform built on Azure Cloud and seamlessly integrated with Arrow Pipes’ existing ERP system.</a:t>
            </a: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Enables real-time data exchange between sales, inventory, pricing, and compliance functions.</a:t>
            </a: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Azure AI services (OCR, NLP, Cognitive Search, Machine Learning) power intelligent document validation, enquiry classification, and demand forecasting.</a:t>
            </a: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Provides a centralized dashboard for management with live KPIs, pipeline tracking, and predictive insights.</a:t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</a:rPr>
              <a:t>Automated Quotations, Compliance Validation, and Proactive Follow-ups</a:t>
            </a:r>
            <a:br>
              <a:rPr lang="en-US" b="1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Quotations generated automatically using pricing engines linked to raw material indices (LME/SME) and SKU composition rules.</a:t>
            </a: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Built-in compliance engine validates critical documents such as Material Test Certificates (MTCs), Certificates of Compliance (CoC), and QA records using OCR + AI.</a:t>
            </a: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Follow-ups automated via CRM workflows, ensuring timely reminders, consistent communication, and higher conversion ratios.</a:t>
            </a: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Reduction in manual errors, improved speed, and standardized approval workflows across the organization.</a:t>
            </a:r>
          </a:p>
          <a:p>
            <a:pPr marL="342900" lvl="1" indent="-342900" algn="l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66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5BBF42-6C21-0255-483C-C1C7647DB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196FF06-E686-549E-5255-CCC6A81D955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F1A67E2E-65BA-6317-28E6-0B024F860E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34" y="95013"/>
            <a:ext cx="5859862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000" spc="-40">
                <a:solidFill>
                  <a:srgbClr val="000000"/>
                </a:solidFill>
              </a:rPr>
              <a:t>Business Outcomes</a:t>
            </a:r>
            <a:endParaRPr lang="en-US" sz="2000">
              <a:ea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CC7FD81F-D99C-1BF0-E3BE-D54031AB61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E6203945-3ADB-6C17-F94B-227C8FCC0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9CF062-3E0C-B913-60F6-E10447EEE7ED}"/>
              </a:ext>
            </a:extLst>
          </p:cNvPr>
          <p:cNvSpPr txBox="1"/>
          <p:nvPr/>
        </p:nvSpPr>
        <p:spPr>
          <a:xfrm>
            <a:off x="572053" y="1024835"/>
            <a:ext cx="1074971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solidFill>
                  <a:schemeClr val="tx1"/>
                </a:solidFill>
              </a:rPr>
              <a:t>Quote Turnaround Time (TAT) Reduced from 2–3 Days → Few Hours</a:t>
            </a:r>
            <a:br>
              <a:rPr lang="en-US" b="1">
                <a:solidFill>
                  <a:schemeClr val="tx1"/>
                </a:solidFill>
              </a:rPr>
            </a:br>
            <a:endParaRPr lang="en-US" b="1">
              <a:solidFill>
                <a:schemeClr val="tx1"/>
              </a:solidFill>
            </a:endParaRP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With AI-powered enquiry parsing, automated SKU mapping, and real-time ERP integration, the quotation process that earlier took 2–3 business days can now be completed within a few hours.</a:t>
            </a:r>
            <a:br>
              <a:rPr lang="en-US"/>
            </a:br>
            <a:endParaRPr lang="en-US">
              <a:solidFill>
                <a:schemeClr val="tx1"/>
              </a:solidFill>
            </a:endParaRP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This speed positions Arrow Pipes ahead of competitors, increasing customer satisfaction and improving the chances of winning time-sensitive deals.</a:t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</a:rPr>
              <a:t>Win-Rate Improved by +15–20%</a:t>
            </a:r>
            <a:br>
              <a:rPr lang="en-US" b="1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  <a:p>
            <a:pPr lvl="1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Faster responses, accurate pricing, and structured follow-ups significantly enhance customer trust.</a:t>
            </a:r>
            <a:br>
              <a:rPr lang="en-US"/>
            </a:br>
            <a:endParaRPr lang="en-US">
              <a:solidFill>
                <a:schemeClr val="tx1"/>
              </a:solidFill>
            </a:endParaRPr>
          </a:p>
          <a:p>
            <a:pPr lvl="1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Automated lead nurturing ensures no potential client is left unattended.</a:t>
            </a:r>
            <a:br>
              <a:rPr lang="en-US"/>
            </a:br>
            <a:endParaRPr lang="en-US"/>
          </a:p>
          <a:p>
            <a:pPr lvl="1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Together, these improvements can boost conversion rates from the current 25–30% to 40–50%, directly contributing to higher revenue.</a:t>
            </a:r>
          </a:p>
          <a:p>
            <a:pPr lvl="1" algn="l">
              <a:buAutoNum type="arabicPeriod"/>
            </a:pP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377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6370E78-4A5F-8877-2B78-50ADFDCD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9928F3B-8713-E3B3-F42F-AEDA1C2A6F6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B997012A-E918-6A02-6D2F-8CCF8081B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34" y="95013"/>
            <a:ext cx="5859862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algn="l"/>
            <a:r>
              <a:rPr lang="en-US" sz="2000" spc="-40">
                <a:solidFill>
                  <a:srgbClr val="000000"/>
                </a:solidFill>
              </a:rPr>
              <a:t>Business Outcomes</a:t>
            </a:r>
            <a:endParaRPr lang="en-US" sz="2000">
              <a:ea typeface="Calibri"/>
            </a:endParaRP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1EBAE9B6-DC39-DD77-B2E5-D4E78668F4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624C1094-E094-BA44-4DDF-276D1C6330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7AB1D9-5B98-E9BB-5CC1-A1C47D06382C}"/>
              </a:ext>
            </a:extLst>
          </p:cNvPr>
          <p:cNvSpPr txBox="1"/>
          <p:nvPr/>
        </p:nvSpPr>
        <p:spPr>
          <a:xfrm>
            <a:off x="572053" y="605183"/>
            <a:ext cx="10804612" cy="61863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 b="1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</a:rPr>
              <a:t>90% Fewer Compliance/Document Errors</a:t>
            </a:r>
            <a:br>
              <a:rPr lang="en-US" b="1">
                <a:solidFill>
                  <a:schemeClr val="tx1"/>
                </a:solidFill>
              </a:rPr>
            </a:br>
            <a:endParaRPr lang="en-US"/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AI-driven OCR and validation mechanisms ensure that MTCs, CoCs, QA certificates, and shipping documents are automatically verified against compliance rules.</a:t>
            </a:r>
            <a:br>
              <a:rPr lang="en-US"/>
            </a:br>
            <a:endParaRPr lang="en-US">
              <a:solidFill>
                <a:schemeClr val="tx1"/>
              </a:solidFill>
            </a:endParaRP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This minimizes human error, reduces the risk of audit failures, and builds confidence among regulatory bodies and clients.</a:t>
            </a:r>
            <a:br>
              <a:rPr lang="en-US"/>
            </a:br>
            <a:endParaRPr lang="en-US">
              <a:solidFill>
                <a:schemeClr val="tx1"/>
              </a:solidFill>
            </a:endParaRPr>
          </a:p>
          <a:p>
            <a:pPr marL="342900" lvl="1" indent="-342900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Fewer document errors also mean smoother project execution and reduced back-and-forth with customers.</a:t>
            </a:r>
            <a:br>
              <a:rPr lang="en-US">
                <a:solidFill>
                  <a:schemeClr val="tx1"/>
                </a:solidFill>
              </a:rPr>
            </a:b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</a:rPr>
              <a:t>Real-Time Dashboards for Better Decision-Making</a:t>
            </a:r>
            <a:br>
              <a:rPr lang="en-US" b="1">
                <a:solidFill>
                  <a:schemeClr val="tx1"/>
                </a:solidFill>
              </a:rPr>
            </a:br>
            <a:endParaRPr lang="en-US"/>
          </a:p>
          <a:p>
            <a:pPr lvl="1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A centralized dashboard provides live insights into enquiries, quotations, pipeline status, win-loss ratios, inventory, and customer engagement metrics.</a:t>
            </a:r>
            <a:br>
              <a:rPr lang="en-US"/>
            </a:br>
            <a:endParaRPr lang="en-US">
              <a:solidFill>
                <a:schemeClr val="tx1"/>
              </a:solidFill>
            </a:endParaRPr>
          </a:p>
          <a:p>
            <a:pPr lvl="1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Managers gain the ability to make data-driven, proactive decisions instead of relying on delayed Excel reports.</a:t>
            </a:r>
            <a:br>
              <a:rPr lang="en-US"/>
            </a:br>
            <a:endParaRPr lang="en-US">
              <a:solidFill>
                <a:schemeClr val="tx1"/>
              </a:solidFill>
            </a:endParaRPr>
          </a:p>
          <a:p>
            <a:pPr lvl="1" algn="l">
              <a:buAutoNum type="arabicPeriod"/>
            </a:pPr>
            <a:r>
              <a:rPr lang="en-US">
                <a:solidFill>
                  <a:schemeClr val="tx1"/>
                </a:solidFill>
              </a:rPr>
              <a:t>Predictive analytics further help in demand forecasting, pricing strategies, and resource planning.</a:t>
            </a:r>
          </a:p>
          <a:p>
            <a:pPr marL="342900" indent="-342900" algn="l">
              <a:buAutoNum type="arabicPeriod"/>
            </a:pPr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5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B3A5E70-8E62-FA59-E61E-96DA40E659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5AD5D911-9D5F-BFB4-27AF-47C3C23C03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369A6C83-095B-F538-54F7-EC0ECA875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834" y="139349"/>
            <a:ext cx="14535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70">
                <a:solidFill>
                  <a:srgbClr val="000000"/>
                </a:solidFill>
              </a:rPr>
              <a:t>Scope</a:t>
            </a:r>
            <a:r>
              <a:rPr sz="2000" spc="-140">
                <a:solidFill>
                  <a:srgbClr val="000000"/>
                </a:solidFill>
              </a:rPr>
              <a:t> </a:t>
            </a:r>
            <a:r>
              <a:rPr sz="2000" spc="-45">
                <a:solidFill>
                  <a:srgbClr val="000000"/>
                </a:solidFill>
              </a:rPr>
              <a:t>of</a:t>
            </a:r>
            <a:r>
              <a:rPr sz="2000" spc="-130">
                <a:solidFill>
                  <a:srgbClr val="000000"/>
                </a:solidFill>
              </a:rPr>
              <a:t> </a:t>
            </a:r>
            <a:r>
              <a:rPr sz="2000" spc="-40">
                <a:solidFill>
                  <a:srgbClr val="000000"/>
                </a:solidFill>
              </a:rPr>
              <a:t>Work</a:t>
            </a:r>
            <a:endParaRPr sz="200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EB3BC53D-7075-A2C2-1A42-C882D562873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83538F3A-4A3E-B546-5DE5-D19F81325082}"/>
              </a:ext>
            </a:extLst>
          </p:cNvPr>
          <p:cNvSpPr txBox="1"/>
          <p:nvPr/>
        </p:nvSpPr>
        <p:spPr>
          <a:xfrm>
            <a:off x="381000" y="583117"/>
            <a:ext cx="11167745" cy="3707425"/>
          </a:xfrm>
          <a:prstGeom prst="rect">
            <a:avLst/>
          </a:prstGeom>
        </p:spPr>
        <p:txBody>
          <a:bodyPr vert="horz" wrap="square" lIns="0" tIns="105410" rIns="0" bIns="0" rtlCol="0" anchor="t">
            <a:sp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Arrow seeks a robust, modular ERP/CRM ecosystem to streamline enquiries → quotes → delivery, improve lead handling, automate follow-ups, and strengthen customer engagement via WhatsApp. The solution will reduce quote TAT, raise win-rates, ensure audit-ready documentation, and provide measurable KPIs for continuous improvement.</a:t>
            </a:r>
            <a:br>
              <a:rPr lang="en-US" b="1" dirty="0">
                <a:latin typeface="Calibri"/>
                <a:ea typeface="Calibri"/>
                <a:cs typeface="Calibri"/>
              </a:rPr>
            </a:br>
            <a:endParaRPr lang="en-US" b="1">
              <a:latin typeface="Calibri"/>
              <a:ea typeface="Calibri"/>
              <a:cs typeface="Calibri"/>
            </a:endParaRPr>
          </a:p>
          <a:p>
            <a:pPr lvl="5"/>
            <a:r>
              <a:rPr lang="en-US" b="1" dirty="0"/>
              <a:t>1.</a:t>
            </a:r>
            <a:r>
              <a:rPr lang="en-US" b="1" dirty="0">
                <a:latin typeface="+mj-lt"/>
              </a:rPr>
              <a:t>CRM Application </a:t>
            </a:r>
            <a:br>
              <a:rPr lang="en-US" b="1" dirty="0">
                <a:latin typeface="+mj-lt"/>
              </a:rPr>
            </a:br>
            <a:br>
              <a:rPr lang="en-US" b="1" dirty="0"/>
            </a:br>
            <a:r>
              <a:rPr lang="en-US" dirty="0">
                <a:latin typeface="+mj-lt"/>
              </a:rPr>
              <a:t>(</a:t>
            </a:r>
            <a:r>
              <a:rPr lang="en-US" dirty="0" err="1">
                <a:latin typeface="+mj-lt"/>
              </a:rPr>
              <a:t>i</a:t>
            </a:r>
            <a:r>
              <a:rPr lang="en-US" dirty="0">
                <a:latin typeface="+mj-lt"/>
              </a:rPr>
              <a:t>) Enquiry Module</a:t>
            </a:r>
          </a:p>
          <a:p>
            <a:pPr lvl="5"/>
            <a:r>
              <a:rPr lang="en-US" dirty="0">
                <a:latin typeface="+mj-lt"/>
              </a:rPr>
              <a:t>(ii) Global Inventory Setup</a:t>
            </a:r>
          </a:p>
          <a:p>
            <a:pPr lvl="5"/>
            <a:r>
              <a:rPr lang="en-US" dirty="0">
                <a:latin typeface="+mj-lt"/>
              </a:rPr>
              <a:t>(iii) Price Estimation Module</a:t>
            </a:r>
          </a:p>
          <a:p>
            <a:pPr lvl="5"/>
            <a:r>
              <a:rPr lang="en-US">
                <a:latin typeface="+mj-lt"/>
              </a:rPr>
              <a:t>(iv)  Follow-up Module</a:t>
            </a:r>
          </a:p>
          <a:p>
            <a:pPr lvl="5"/>
            <a:r>
              <a:rPr lang="en-US" dirty="0">
                <a:latin typeface="+mj-lt"/>
              </a:rPr>
              <a:t>(v) Survey/Feedback Module</a:t>
            </a:r>
          </a:p>
          <a:p>
            <a:pPr lvl="5"/>
            <a:endParaRPr lang="en-US">
              <a:latin typeface="Calibri"/>
              <a:ea typeface="Calibri"/>
              <a:cs typeface="Calibri"/>
            </a:endParaRPr>
          </a:p>
        </p:txBody>
      </p:sp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5A8B0BC3-002E-FFBF-5765-D219CC343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27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88DEBD4-5845-6AA9-86F3-E28ADCDD4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0BBEC46-1AAC-1551-9336-4F14CEBA7B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>
            <a:extLst>
              <a:ext uri="{FF2B5EF4-FFF2-40B4-BE49-F238E27FC236}">
                <a16:creationId xmlns:a16="http://schemas.microsoft.com/office/drawing/2014/main" id="{A9B5F828-65EE-5EF4-B8F6-9460BE2D4F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34" y="104143"/>
            <a:ext cx="2977515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000" spc="-70">
                <a:solidFill>
                  <a:srgbClr val="000000"/>
                </a:solidFill>
                <a:ea typeface="Calibri"/>
              </a:rPr>
              <a:t>What you will get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63275CC0-F037-B4FF-C74F-2DBBAD5D763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3F4AAD6-E2D9-3F99-67C2-6AFADA6CB909}"/>
              </a:ext>
            </a:extLst>
          </p:cNvPr>
          <p:cNvSpPr txBox="1"/>
          <p:nvPr/>
        </p:nvSpPr>
        <p:spPr>
          <a:xfrm>
            <a:off x="279334" y="818863"/>
            <a:ext cx="11520000" cy="452431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>
                <a:solidFill>
                  <a:schemeClr val="tx1"/>
                </a:solidFill>
              </a:rPr>
              <a:t>1.</a:t>
            </a:r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Web Pages 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40-45 app development screens for Desktop and smart devices.</a:t>
            </a:r>
            <a:endParaRPr lang="en-US">
              <a:solidFill>
                <a:schemeClr val="tx1"/>
              </a:solidFill>
            </a:endParaRPr>
          </a:p>
          <a:p>
            <a:pPr algn="l"/>
            <a:endParaRPr lang="en-US">
              <a:solidFill>
                <a:schemeClr val="tx1"/>
              </a:solidFill>
              <a:latin typeface="+mj-lt"/>
              <a:ea typeface="Calibri"/>
              <a:cs typeface="Calibri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2. API Integrations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latin typeface="Calibri"/>
                <a:ea typeface="Calibri"/>
                <a:cs typeface="Calibri"/>
              </a:rPr>
              <a:t>API (Application Programming Interface) Integration enables your application to connect with external services, applications, or systems to exchange data and enhance functionality. Whether it’s a  CRM,ERP, </a:t>
            </a:r>
            <a:r>
              <a:rPr lang="en-US" err="1">
                <a:latin typeface="Calibri"/>
                <a:ea typeface="Calibri"/>
                <a:cs typeface="Calibri"/>
              </a:rPr>
              <a:t>whats</a:t>
            </a:r>
            <a:r>
              <a:rPr lang="en-US">
                <a:latin typeface="Calibri"/>
                <a:ea typeface="Calibri"/>
                <a:cs typeface="Calibri"/>
              </a:rPr>
              <a:t> app bot or third-party database, APIs streamline operations and improve user experience</a:t>
            </a:r>
            <a:r>
              <a:rPr lang="en-US">
                <a:latin typeface="+mj-lt"/>
                <a:ea typeface="Calibri"/>
                <a:cs typeface="Calibri"/>
              </a:rPr>
              <a:t>.</a:t>
            </a:r>
            <a:br>
              <a:rPr lang="en-US">
                <a:latin typeface="+mj-lt"/>
                <a:ea typeface="Calibri"/>
                <a:cs typeface="Calibri"/>
              </a:rPr>
            </a:br>
            <a:r>
              <a:rPr lang="en-US" b="1">
                <a:latin typeface="+mj-lt"/>
                <a:ea typeface="Calibri"/>
                <a:cs typeface="Calibri"/>
              </a:rPr>
              <a:t> </a:t>
            </a:r>
            <a:br>
              <a:rPr lang="en-US" b="1">
                <a:latin typeface="+mj-lt"/>
                <a:ea typeface="Calibri"/>
                <a:cs typeface="Calibri"/>
              </a:rPr>
            </a:br>
            <a:r>
              <a:rPr lang="en-US" b="1">
                <a:latin typeface="+mj-lt"/>
                <a:ea typeface="Calibri"/>
                <a:cs typeface="Calibri"/>
              </a:rPr>
              <a:t>3. Database Design</a:t>
            </a:r>
            <a:endParaRPr lang="en-US" b="1">
              <a:latin typeface="Calibri"/>
              <a:ea typeface="Calibri"/>
              <a:cs typeface="Calibri"/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Structured and scalable database architecture to store all site data including user information, program content, form submissions, and admin configurations. </a:t>
            </a:r>
            <a:br>
              <a:rPr lang="en-US">
                <a:latin typeface="+mj-lt"/>
                <a:ea typeface="Calibri"/>
                <a:cs typeface="Calibri"/>
              </a:rPr>
            </a:br>
            <a:endParaRPr lang="en-US">
              <a:solidFill>
                <a:schemeClr val="tx1"/>
              </a:solidFill>
              <a:latin typeface="+mj-lt"/>
              <a:ea typeface="Calibri"/>
              <a:cs typeface="Calibri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4. Database Integration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Connecting the frontend interface with the backend database to enable real-time data flow between the user interface and the server, ensuring accurate data retrieval and storage.</a:t>
            </a:r>
            <a:endParaRPr lang="en-US">
              <a:solidFill>
                <a:schemeClr val="tx1"/>
              </a:solidFill>
            </a:endParaRPr>
          </a:p>
          <a:p>
            <a:endParaRPr lang="en-US" b="1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6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526F994B-6BB0-921B-6C9E-8ECD04F37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570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DC6AB37-4CF8-C36E-29AE-8AC157411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DAA3C3F-2544-6069-3084-E6BC41D7260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364DB504-4281-7AC9-B618-3EA6531C83F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65D009-E45B-6841-680E-482C0F604E63}"/>
              </a:ext>
            </a:extLst>
          </p:cNvPr>
          <p:cNvSpPr txBox="1"/>
          <p:nvPr/>
        </p:nvSpPr>
        <p:spPr>
          <a:xfrm>
            <a:off x="147334" y="914863"/>
            <a:ext cx="11950695" cy="480131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5. Testing and Security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Functional, Automation, and Compatibility Testing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Data Validation &amp; XSS/SQL Injection Protection</a:t>
            </a: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HTTPS Enforcement &amp; SSL Setup</a:t>
            </a:r>
            <a:br>
              <a:rPr lang="en-US">
                <a:latin typeface="+mj-lt"/>
                <a:ea typeface="Calibri"/>
                <a:cs typeface="Calibri"/>
              </a:rPr>
            </a:br>
            <a:endParaRPr lang="en-US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6 Browser &amp; Device Compatibility Testing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Verifying the website’s look and performance across multiple browsers and devices to ensure uniform behavior and   appearance.</a:t>
            </a:r>
            <a:br>
              <a:rPr lang="en-US">
                <a:latin typeface="+mj-lt"/>
                <a:ea typeface="Calibri"/>
                <a:cs typeface="Calibri"/>
              </a:rPr>
            </a:br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7. Performance Optimization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 Optimizing page load speed, reducing server requests, and compressing assets (images, CSS, JavaScript) for smooth and fast user experience.</a:t>
            </a:r>
            <a:endParaRPr lang="en-US">
              <a:solidFill>
                <a:schemeClr val="tx1"/>
              </a:solidFill>
            </a:endParaRPr>
          </a:p>
          <a:p>
            <a:pPr algn="l"/>
            <a:br>
              <a:rPr lang="en-US">
                <a:latin typeface="+mj-lt"/>
                <a:ea typeface="Calibri"/>
                <a:cs typeface="Calibri"/>
              </a:rPr>
            </a:br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8</a:t>
            </a:r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. Hosting Setup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 Hosting, SSL, Domain Setup, DNS Configuration</a:t>
            </a:r>
            <a:br>
              <a:rPr lang="en-US">
                <a:latin typeface="+mj-lt"/>
                <a:ea typeface="Calibri"/>
                <a:cs typeface="Calibri"/>
              </a:rPr>
            </a:br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l"/>
            <a:endParaRPr lang="en-US" b="1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6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AFF8405C-B17B-2657-3E5C-006CCD70CD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65702DFE-8A7E-7660-2AA5-F23071B3F24C}"/>
              </a:ext>
            </a:extLst>
          </p:cNvPr>
          <p:cNvSpPr txBox="1">
            <a:spLocks/>
          </p:cNvSpPr>
          <p:nvPr/>
        </p:nvSpPr>
        <p:spPr>
          <a:xfrm>
            <a:off x="567334" y="104143"/>
            <a:ext cx="2977515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1" i="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000" spc="-70">
                <a:solidFill>
                  <a:srgbClr val="000000"/>
                </a:solidFill>
                <a:ea typeface="Calibri"/>
              </a:rPr>
              <a:t>What you will get</a:t>
            </a:r>
          </a:p>
        </p:txBody>
      </p:sp>
    </p:spTree>
    <p:extLst>
      <p:ext uri="{BB962C8B-B14F-4D97-AF65-F5344CB8AC3E}">
        <p14:creationId xmlns:p14="http://schemas.microsoft.com/office/powerpoint/2010/main" val="33998527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8BD0F81-C29A-C2D0-0FDA-AE97F6119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83B0501-C934-3061-55BA-381C7F88FF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2E539B39-9804-80B6-99BA-1FB7E3ADD62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FA9B7C7-10AE-1086-A759-F3EBF3377470}"/>
              </a:ext>
            </a:extLst>
          </p:cNvPr>
          <p:cNvSpPr txBox="1"/>
          <p:nvPr/>
        </p:nvSpPr>
        <p:spPr>
          <a:xfrm>
            <a:off x="147334" y="914863"/>
            <a:ext cx="11520000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9. SSL Certificate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 Installing a Secure Sockets Layer (SSL) certificate to enable HTTPS and encrypt user data during transmission for secure communication.</a:t>
            </a:r>
            <a:br>
              <a:rPr lang="en-US">
                <a:latin typeface="+mj-lt"/>
                <a:ea typeface="Calibri"/>
                <a:cs typeface="Calibri"/>
              </a:rPr>
            </a:br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10. SSL Security Configuration and Integration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   Configuring the server and website to enforce HTTPS across all pages, enhancing data security and user trust. It will also redirect all the requests coming from http to https.</a:t>
            </a:r>
            <a:br>
              <a:rPr lang="en-US">
                <a:latin typeface="+mj-lt"/>
                <a:ea typeface="Calibri"/>
                <a:cs typeface="Calibri"/>
              </a:rPr>
            </a:br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 b="1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11. Data Validation and Sanitization</a:t>
            </a:r>
            <a:endParaRPr lang="en-US">
              <a:solidFill>
                <a:schemeClr val="tx1"/>
              </a:solidFill>
            </a:endParaRPr>
          </a:p>
          <a:p>
            <a:pPr algn="l"/>
            <a:r>
              <a:rPr lang="en-US">
                <a:solidFill>
                  <a:schemeClr val="tx1"/>
                </a:solidFill>
                <a:latin typeface="+mj-lt"/>
                <a:ea typeface="Calibri"/>
                <a:cs typeface="Calibri"/>
              </a:rPr>
              <a:t>       Implementing backend and frontend checks to ensure that all user-submitted data is clean, valid, and free from malicious content to protect against XSS and SQL injection attacks.</a:t>
            </a:r>
            <a:endParaRPr lang="en-US">
              <a:solidFill>
                <a:schemeClr val="tx1"/>
              </a:solidFill>
            </a:endParaRPr>
          </a:p>
          <a:p>
            <a:pPr algn="l"/>
            <a:endParaRPr lang="en-US" b="1">
              <a:solidFill>
                <a:schemeClr val="tx1"/>
              </a:solidFill>
              <a:latin typeface="+mj-lt"/>
              <a:ea typeface="Calibri"/>
              <a:cs typeface="Calibri"/>
            </a:endParaRPr>
          </a:p>
        </p:txBody>
      </p:sp>
      <p:pic>
        <p:nvPicPr>
          <p:cNvPr id="6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8FCBF3C4-D23C-EF5E-EBBE-5023BE6F90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97B1FC94-E84A-1F2C-C38E-785205509FF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7334" y="104143"/>
            <a:ext cx="2977515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000" spc="-70">
                <a:solidFill>
                  <a:srgbClr val="000000"/>
                </a:solidFill>
                <a:ea typeface="Calibri"/>
              </a:rPr>
              <a:t>What you will get</a:t>
            </a:r>
          </a:p>
        </p:txBody>
      </p:sp>
    </p:spTree>
    <p:extLst>
      <p:ext uri="{BB962C8B-B14F-4D97-AF65-F5344CB8AC3E}">
        <p14:creationId xmlns:p14="http://schemas.microsoft.com/office/powerpoint/2010/main" val="2655620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29324C1-9B75-FB78-B72A-F6ADD79AD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4C588858-F450-46AD-CF57-5FDCCE96303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90B677C4-3CC7-C738-9487-39C720B8B8D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F401504-15BC-3F6A-3D77-08F5B413A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49" y="61692"/>
            <a:ext cx="6372089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000">
                <a:solidFill>
                  <a:schemeClr val="tx1"/>
                </a:solidFill>
                <a:ea typeface="Calibri"/>
              </a:rPr>
              <a:t>System Architecture </a:t>
            </a:r>
            <a:endParaRPr lang="en-US" sz="2000">
              <a:solidFill>
                <a:schemeClr val="tx1"/>
              </a:solidFill>
              <a:ea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A870634-25E5-E87A-D860-4AAEAADDFE7F}"/>
              </a:ext>
            </a:extLst>
          </p:cNvPr>
          <p:cNvSpPr/>
          <p:nvPr/>
        </p:nvSpPr>
        <p:spPr>
          <a:xfrm>
            <a:off x="2732886" y="842820"/>
            <a:ext cx="8043610" cy="518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+mn-lt"/>
                <a:cs typeface="+mn-lt"/>
              </a:rPr>
              <a:t>User Interface Layer │ │ (Web Portal, APIs) </a:t>
            </a:r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58AA49A3-8E3E-8011-C427-3C337D1C818B}"/>
              </a:ext>
            </a:extLst>
          </p:cNvPr>
          <p:cNvSpPr/>
          <p:nvPr/>
        </p:nvSpPr>
        <p:spPr>
          <a:xfrm>
            <a:off x="6421690" y="1358778"/>
            <a:ext cx="330405" cy="36768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B54588-DA32-8962-F7B4-8A33F3704FFD}"/>
              </a:ext>
            </a:extLst>
          </p:cNvPr>
          <p:cNvSpPr/>
          <p:nvPr/>
        </p:nvSpPr>
        <p:spPr>
          <a:xfrm>
            <a:off x="2727573" y="1748937"/>
            <a:ext cx="8046112" cy="157087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000"/>
              <a:t>Application Services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D86DCF-9825-FA34-BCD7-F4337CA0FC1E}"/>
              </a:ext>
            </a:extLst>
          </p:cNvPr>
          <p:cNvSpPr/>
          <p:nvPr/>
        </p:nvSpPr>
        <p:spPr>
          <a:xfrm>
            <a:off x="3051840" y="2276621"/>
            <a:ext cx="1476730" cy="814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ea typeface="+mn-lt"/>
                <a:cs typeface="+mn-lt"/>
              </a:rPr>
              <a:t>CRM Application</a:t>
            </a:r>
            <a:endParaRPr lang="en-US" sz="1200">
              <a:ea typeface="Calibri"/>
              <a:cs typeface="Calibri"/>
            </a:endParaRPr>
          </a:p>
          <a:p>
            <a:pPr algn="ctr"/>
            <a:r>
              <a:rPr lang="en-GB" sz="1200">
                <a:ea typeface="+mn-lt"/>
                <a:cs typeface="+mn-lt"/>
              </a:rPr>
              <a:t> </a:t>
            </a:r>
            <a:r>
              <a:rPr lang="en-GB" sz="1200" b="1">
                <a:ea typeface="+mn-lt"/>
                <a:cs typeface="+mn-lt"/>
              </a:rPr>
              <a:t>Module</a:t>
            </a:r>
            <a:endParaRPr lang="en-US" sz="1200" b="1"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F8BA73-8163-DEA8-4715-87D81730E0CC}"/>
              </a:ext>
            </a:extLst>
          </p:cNvPr>
          <p:cNvSpPr/>
          <p:nvPr/>
        </p:nvSpPr>
        <p:spPr>
          <a:xfrm>
            <a:off x="5057693" y="2276620"/>
            <a:ext cx="1476730" cy="814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200" b="1">
                <a:ea typeface="Calibri"/>
                <a:cs typeface="Calibri"/>
              </a:rPr>
              <a:t>User Management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99ADD5-641C-4D72-AEA7-12849CC2A975}"/>
              </a:ext>
            </a:extLst>
          </p:cNvPr>
          <p:cNvSpPr/>
          <p:nvPr/>
        </p:nvSpPr>
        <p:spPr>
          <a:xfrm>
            <a:off x="6996311" y="2276620"/>
            <a:ext cx="1476730" cy="814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200" b="1">
                <a:ea typeface="Calibri"/>
                <a:cs typeface="Calibri"/>
              </a:rPr>
              <a:t>Approval Flows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7FA278-0E87-2CA8-7F98-28E909412833}"/>
              </a:ext>
            </a:extLst>
          </p:cNvPr>
          <p:cNvSpPr/>
          <p:nvPr/>
        </p:nvSpPr>
        <p:spPr>
          <a:xfrm>
            <a:off x="8856486" y="2276619"/>
            <a:ext cx="1611200" cy="8142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l"/>
            <a:r>
              <a:rPr lang="en-US" sz="1200" b="1">
                <a:solidFill>
                  <a:schemeClr val="tx1"/>
                </a:solidFill>
                <a:ea typeface="Calibri"/>
                <a:cs typeface="Calibri"/>
              </a:rPr>
              <a:t>Others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5B25C05-CDCB-A7E7-2EB8-135C03BA8ED3}"/>
              </a:ext>
            </a:extLst>
          </p:cNvPr>
          <p:cNvSpPr/>
          <p:nvPr/>
        </p:nvSpPr>
        <p:spPr>
          <a:xfrm>
            <a:off x="2780886" y="3798084"/>
            <a:ext cx="7942758" cy="4737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+mn-lt"/>
                <a:cs typeface="+mn-lt"/>
              </a:rPr>
              <a:t>AI &amp; ML Services Layer │ │ (NLP, OCR, Recommendation Engine, Pricing Engine)</a:t>
            </a: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0DCE66-789A-D20D-EF03-367BDF97ED67}"/>
              </a:ext>
            </a:extLst>
          </p:cNvPr>
          <p:cNvSpPr/>
          <p:nvPr/>
        </p:nvSpPr>
        <p:spPr>
          <a:xfrm>
            <a:off x="2726885" y="4824526"/>
            <a:ext cx="7942758" cy="417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+mn-lt"/>
                <a:cs typeface="+mn-lt"/>
              </a:rPr>
              <a:t>Integration Layer │ │ (ERP Connector, API Management, Message Queue) </a:t>
            </a:r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5B35B07-84C1-D2DD-D6DD-A273368EE30D}"/>
              </a:ext>
            </a:extLst>
          </p:cNvPr>
          <p:cNvSpPr/>
          <p:nvPr/>
        </p:nvSpPr>
        <p:spPr>
          <a:xfrm>
            <a:off x="2726884" y="5800937"/>
            <a:ext cx="7942758" cy="384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GB">
                <a:ea typeface="+mn-lt"/>
                <a:cs typeface="+mn-lt"/>
              </a:rPr>
              <a:t>Data Layer │ │ (Primary DB, Document Store, Cache, Data Warehouse)</a:t>
            </a:r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002583D7-C295-2DC9-75FD-1A35D1433EC7}"/>
              </a:ext>
            </a:extLst>
          </p:cNvPr>
          <p:cNvSpPr/>
          <p:nvPr/>
        </p:nvSpPr>
        <p:spPr>
          <a:xfrm>
            <a:off x="6373689" y="3427983"/>
            <a:ext cx="330405" cy="36768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05765C48-61EE-F524-C32E-94B6EB0C4AE8}"/>
              </a:ext>
            </a:extLst>
          </p:cNvPr>
          <p:cNvSpPr/>
          <p:nvPr/>
        </p:nvSpPr>
        <p:spPr>
          <a:xfrm>
            <a:off x="6373689" y="4371218"/>
            <a:ext cx="330405" cy="36768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0B856E53-C2EB-FF36-51CD-6A77136F7A98}"/>
              </a:ext>
            </a:extLst>
          </p:cNvPr>
          <p:cNvSpPr/>
          <p:nvPr/>
        </p:nvSpPr>
        <p:spPr>
          <a:xfrm>
            <a:off x="6373688" y="5335629"/>
            <a:ext cx="330405" cy="367686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4DC354A4-CD7D-5EE9-795C-BA53908F4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055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130D-3417-6AC9-D3ED-9A234B3A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749" y="72897"/>
            <a:ext cx="11728500" cy="307777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000">
                <a:solidFill>
                  <a:schemeClr val="tx1"/>
                </a:solidFill>
                <a:ea typeface="Calibri"/>
              </a:rPr>
              <a:t>Technology Stack</a:t>
            </a:r>
            <a:endParaRPr lang="en-US" sz="200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BEF6A1-4D7C-BCC0-D471-E63E7427C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0564" y="676591"/>
            <a:ext cx="9501505" cy="6370975"/>
          </a:xfrm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b="1">
                <a:ea typeface="+mn-lt"/>
                <a:cs typeface="+mn-lt"/>
              </a:rPr>
              <a:t>Backend Services:</a:t>
            </a:r>
            <a:endParaRPr lang="en-US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Framework:</a:t>
            </a:r>
            <a:r>
              <a:rPr lang="en-GB">
                <a:ea typeface="+mn-lt"/>
                <a:cs typeface="+mn-lt"/>
              </a:rPr>
              <a:t> .NET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Alternative:</a:t>
            </a:r>
            <a:r>
              <a:rPr lang="en-GB">
                <a:ea typeface="+mn-lt"/>
                <a:cs typeface="+mn-lt"/>
              </a:rPr>
              <a:t> Node.js with TypeScript 5.0+ for real-time services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Database:</a:t>
            </a:r>
            <a:r>
              <a:rPr lang="en-GB">
                <a:ea typeface="+mn-lt"/>
                <a:cs typeface="+mn-lt"/>
              </a:rPr>
              <a:t> SQL 15+ (Primary), Redis 7+ (Cache/Session)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Message Broker:</a:t>
            </a:r>
            <a:r>
              <a:rPr lang="en-GB">
                <a:ea typeface="+mn-lt"/>
                <a:cs typeface="+mn-lt"/>
              </a:rPr>
              <a:t> Apache Kafka 3.5+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API Gateway:</a:t>
            </a:r>
            <a:r>
              <a:rPr lang="en-GB">
                <a:ea typeface="+mn-lt"/>
                <a:cs typeface="+mn-lt"/>
              </a:rPr>
              <a:t>  Azure and ERP APIs</a:t>
            </a:r>
            <a:br>
              <a:rPr lang="en-GB">
                <a:ea typeface="+mn-lt"/>
                <a:cs typeface="+mn-lt"/>
              </a:rPr>
            </a:br>
            <a:endParaRPr lang="en-GB"/>
          </a:p>
          <a:p>
            <a:pPr algn="l"/>
            <a:r>
              <a:rPr lang="en-GB" b="1">
                <a:ea typeface="+mn-lt"/>
                <a:cs typeface="+mn-lt"/>
              </a:rPr>
              <a:t>Frontend Applications: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Web:</a:t>
            </a:r>
            <a:r>
              <a:rPr lang="en-GB">
                <a:ea typeface="+mn-lt"/>
                <a:cs typeface="+mn-lt"/>
              </a:rPr>
              <a:t> MVC .NET, 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UI Framework:</a:t>
            </a:r>
            <a:r>
              <a:rPr lang="en-GB">
                <a:ea typeface="+mn-lt"/>
                <a:cs typeface="+mn-lt"/>
              </a:rPr>
              <a:t> Material-UI / Figma</a:t>
            </a:r>
            <a:br>
              <a:rPr lang="en-GB">
                <a:ea typeface="+mn-lt"/>
                <a:cs typeface="+mn-lt"/>
              </a:rPr>
            </a:br>
            <a:endParaRPr lang="en-GB"/>
          </a:p>
          <a:p>
            <a:pPr algn="l"/>
            <a:r>
              <a:rPr lang="en-GB" b="1">
                <a:ea typeface="+mn-lt"/>
                <a:cs typeface="+mn-lt"/>
              </a:rPr>
              <a:t>DevOps &amp; Infrastructure: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Containerization:</a:t>
            </a:r>
            <a:r>
              <a:rPr lang="en-GB">
                <a:ea typeface="+mn-lt"/>
                <a:cs typeface="+mn-lt"/>
              </a:rPr>
              <a:t> Docker 24+, Kubernetes 1.28+(if applicable)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Cloud Platform:</a:t>
            </a:r>
            <a:r>
              <a:rPr lang="en-GB">
                <a:ea typeface="+mn-lt"/>
                <a:cs typeface="+mn-lt"/>
              </a:rPr>
              <a:t> Azure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CI/CD:</a:t>
            </a:r>
            <a:r>
              <a:rPr lang="en-GB">
                <a:ea typeface="+mn-lt"/>
                <a:cs typeface="+mn-lt"/>
              </a:rPr>
              <a:t> GitLab CI / GitHub Actions</a:t>
            </a:r>
            <a:br>
              <a:rPr lang="en-GB">
                <a:ea typeface="+mn-lt"/>
                <a:cs typeface="+mn-lt"/>
              </a:rPr>
            </a:br>
            <a:endParaRPr lang="en-GB"/>
          </a:p>
          <a:p>
            <a:pPr algn="l"/>
            <a:r>
              <a:rPr lang="en-GB" b="1">
                <a:ea typeface="+mn-lt"/>
                <a:cs typeface="+mn-lt"/>
              </a:rPr>
              <a:t>Third-Party Integrations: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WhatsApp:</a:t>
            </a:r>
            <a:r>
              <a:rPr lang="en-GB">
                <a:ea typeface="+mn-lt"/>
                <a:cs typeface="+mn-lt"/>
              </a:rPr>
              <a:t> Meta WhatsApp Business API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Email:</a:t>
            </a:r>
            <a:r>
              <a:rPr lang="en-GB">
                <a:ea typeface="+mn-lt"/>
                <a:cs typeface="+mn-lt"/>
              </a:rPr>
              <a:t> O365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SMS:</a:t>
            </a:r>
            <a:r>
              <a:rPr lang="en-GB">
                <a:ea typeface="+mn-lt"/>
                <a:cs typeface="+mn-lt"/>
              </a:rPr>
              <a:t> Twilio /Others</a:t>
            </a:r>
            <a:endParaRPr lang="en-GB"/>
          </a:p>
          <a:p>
            <a:pPr marL="285750" indent="-285750" algn="l">
              <a:buFont typeface="Arial"/>
              <a:buChar char="•"/>
            </a:pPr>
            <a:r>
              <a:rPr lang="en-GB" b="1">
                <a:ea typeface="+mn-lt"/>
                <a:cs typeface="+mn-lt"/>
              </a:rPr>
              <a:t>File Storage:</a:t>
            </a:r>
            <a:r>
              <a:rPr lang="en-GB">
                <a:ea typeface="+mn-lt"/>
                <a:cs typeface="+mn-lt"/>
              </a:rPr>
              <a:t> Internal storage / Azure Blob Storage</a:t>
            </a:r>
            <a:endParaRPr lang="en-GB"/>
          </a:p>
          <a:p>
            <a:pPr marL="285750" indent="-285750" algn="l">
              <a:buFont typeface="Arial"/>
              <a:buChar char="•"/>
            </a:pPr>
            <a:endParaRPr lang="en-GB"/>
          </a:p>
          <a:p>
            <a:endParaRPr lang="en-GB">
              <a:ea typeface="Calibri"/>
              <a:cs typeface="Calibri"/>
            </a:endParaRPr>
          </a:p>
        </p:txBody>
      </p:sp>
      <p:pic>
        <p:nvPicPr>
          <p:cNvPr id="5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EB0633A8-C566-D75F-71D3-A7AD183503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137F6C37-CDF5-7BDE-1D87-CEFB59889C6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:a16="http://schemas.microsoft.com/office/drawing/2014/main" id="{896490F2-8104-41B2-FFBB-33C217889F80}"/>
              </a:ext>
            </a:extLst>
          </p:cNvPr>
          <p:cNvSpPr txBox="1"/>
          <p:nvPr/>
        </p:nvSpPr>
        <p:spPr>
          <a:xfrm>
            <a:off x="945815" y="6410855"/>
            <a:ext cx="11128524" cy="28982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1400">
                <a:latin typeface="Calibri"/>
                <a:cs typeface="Calibri"/>
              </a:rPr>
              <a:t>Note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–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we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are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planning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to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lang="en-US" sz="1400">
                <a:latin typeface="Calibri"/>
                <a:cs typeface="Calibri"/>
              </a:rPr>
              <a:t>use</a:t>
            </a:r>
            <a:r>
              <a:rPr lang="en-US" sz="1400" spc="-20">
                <a:latin typeface="Calibri"/>
                <a:cs typeface="Calibri"/>
              </a:rPr>
              <a:t> above </a:t>
            </a:r>
            <a:r>
              <a:rPr lang="en-US" sz="1400">
                <a:latin typeface="Calibri"/>
                <a:cs typeface="Calibri"/>
              </a:rPr>
              <a:t>tech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on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Project,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but</a:t>
            </a:r>
            <a:r>
              <a:rPr lang="en-US" sz="1400" spc="-35">
                <a:latin typeface="Calibri"/>
                <a:cs typeface="Calibri"/>
              </a:rPr>
              <a:t> tech stack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can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changed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according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to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availability</a:t>
            </a:r>
            <a:r>
              <a:rPr lang="en-US" sz="1400" spc="-10">
                <a:latin typeface="Calibri"/>
                <a:cs typeface="Calibri"/>
              </a:rPr>
              <a:t> and requirement of the solution</a:t>
            </a:r>
            <a:r>
              <a:rPr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7886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67334" y="61071"/>
            <a:ext cx="6066928" cy="9797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r>
              <a:rPr lang="en-US" sz="2000" spc="-40">
                <a:solidFill>
                  <a:srgbClr val="000000"/>
                </a:solidFill>
              </a:rPr>
              <a:t>Enquiry Module –Technical Overview</a:t>
            </a:r>
            <a:endParaRPr lang="en-US" sz="2000" spc="-40">
              <a:solidFill>
                <a:srgbClr val="000000"/>
              </a:solidFill>
              <a:ea typeface="Calibri"/>
            </a:endParaRPr>
          </a:p>
          <a:p>
            <a:endParaRPr lang="en-US" sz="2000" spc="-40">
              <a:solidFill>
                <a:srgbClr val="000000"/>
              </a:solidFill>
              <a:ea typeface="Calibri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2000" spc="-40">
              <a:solidFill>
                <a:srgbClr val="000000"/>
              </a:solidFill>
              <a:ea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33B356-89A3-DE5D-D190-D80DF9558D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71294"/>
              </p:ext>
            </p:extLst>
          </p:nvPr>
        </p:nvGraphicFramePr>
        <p:xfrm>
          <a:off x="364434" y="684695"/>
          <a:ext cx="11363538" cy="603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81769">
                  <a:extLst>
                    <a:ext uri="{9D8B030D-6E8A-4147-A177-3AD203B41FA5}">
                      <a16:colId xmlns:a16="http://schemas.microsoft.com/office/drawing/2014/main" val="3110640566"/>
                    </a:ext>
                  </a:extLst>
                </a:gridCol>
                <a:gridCol w="5681769">
                  <a:extLst>
                    <a:ext uri="{9D8B030D-6E8A-4147-A177-3AD203B41FA5}">
                      <a16:colId xmlns:a16="http://schemas.microsoft.com/office/drawing/2014/main" val="40344791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Category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                          Details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259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Key Features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 Omni-channel enquiry capture (Email / WhatsApp / Tenders)</a:t>
                      </a:r>
                      <a:br>
                        <a:rPr lang="en-GB"/>
                      </a:br>
                      <a:r>
                        <a:rPr lang="en-GB"/>
                        <a:t>- Auto-triage &amp; classification by customer type</a:t>
                      </a:r>
                      <a:br>
                        <a:rPr lang="en-GB"/>
                      </a:br>
                      <a:r>
                        <a:rPr lang="en-GB"/>
                        <a:t>- SKU normalization &amp; specification matching</a:t>
                      </a:r>
                      <a:br>
                        <a:rPr lang="en-GB"/>
                      </a:br>
                      <a:r>
                        <a:rPr lang="en-GB"/>
                        <a:t>- MTC / deviation checks</a:t>
                      </a:r>
                      <a:br>
                        <a:rPr lang="en-GB"/>
                      </a:br>
                      <a:r>
                        <a:rPr lang="en-GB"/>
                        <a:t>- Inventory intelligence (on-hand, expiring, incoming)</a:t>
                      </a:r>
                      <a:br>
                        <a:rPr lang="en-GB"/>
                      </a:br>
                      <a:r>
                        <a:rPr lang="en-GB"/>
                        <a:t>- Dashboards for:</a:t>
                      </a:r>
                      <a:br>
                        <a:rPr lang="en-GB"/>
                      </a:br>
                      <a:r>
                        <a:rPr lang="en-GB"/>
                        <a:t> • Enquiry → Offer</a:t>
                      </a:r>
                      <a:br>
                        <a:rPr lang="en-GB"/>
                      </a:br>
                      <a:r>
                        <a:rPr lang="en-GB"/>
                        <a:t> • Offer → Order</a:t>
                      </a:r>
                      <a:br>
                        <a:rPr lang="en-GB"/>
                      </a:br>
                      <a:r>
                        <a:rPr lang="en-GB"/>
                        <a:t> • Turnaround Time (TAT)</a:t>
                      </a:r>
                      <a:br>
                        <a:rPr lang="en-GB"/>
                      </a:br>
                      <a:r>
                        <a:rPr lang="en-GB"/>
                        <a:t> • Fill-rate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67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Technical Components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 </a:t>
                      </a:r>
                      <a:r>
                        <a:rPr lang="en-GB" b="1"/>
                        <a:t>OCR / NLP Enquiry Parser</a:t>
                      </a:r>
                      <a:r>
                        <a:rPr lang="en-GB"/>
                        <a:t> → Extract structured data from documents &amp; messages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SKU Crosswalk Engine</a:t>
                      </a:r>
                      <a:r>
                        <a:rPr lang="en-GB"/>
                        <a:t> → Map equivalent SKUs across vendors/customers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Compliance Governance</a:t>
                      </a:r>
                      <a:r>
                        <a:rPr lang="en-GB"/>
                        <a:t> → AVL, Origin, </a:t>
                      </a:r>
                      <a:r>
                        <a:rPr lang="en-GB" err="1"/>
                        <a:t>CoO</a:t>
                      </a:r>
                      <a:r>
                        <a:rPr lang="en-GB"/>
                        <a:t> checks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ERP Integration</a:t>
                      </a:r>
                      <a:r>
                        <a:rPr lang="en-GB"/>
                        <a:t> → Seamless sync with backend systems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Offer Pack Generator</a:t>
                      </a:r>
                      <a:r>
                        <a:rPr lang="en-GB"/>
                        <a:t> → Auto-generate offer documents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Approval Bot</a:t>
                      </a:r>
                      <a:r>
                        <a:rPr lang="en-GB"/>
                        <a:t> → Automated workflow for internal approvals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696758"/>
                  </a:ext>
                </a:extLst>
              </a:tr>
            </a:tbl>
          </a:graphicData>
        </a:graphic>
      </p:graphicFrame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2558F127-EA9D-4F16-57C2-3FEC9204F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715" y="0"/>
            <a:ext cx="1557274" cy="502792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B2DD668-2C21-2BC5-C365-B802BCC12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8428869"/>
              </p:ext>
            </p:extLst>
          </p:nvPr>
        </p:nvGraphicFramePr>
        <p:xfrm>
          <a:off x="298173" y="927652"/>
          <a:ext cx="10839277" cy="512499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631441">
                  <a:extLst>
                    <a:ext uri="{9D8B030D-6E8A-4147-A177-3AD203B41FA5}">
                      <a16:colId xmlns:a16="http://schemas.microsoft.com/office/drawing/2014/main" val="4018751608"/>
                    </a:ext>
                  </a:extLst>
                </a:gridCol>
                <a:gridCol w="5207836">
                  <a:extLst>
                    <a:ext uri="{9D8B030D-6E8A-4147-A177-3AD203B41FA5}">
                      <a16:colId xmlns:a16="http://schemas.microsoft.com/office/drawing/2014/main" val="2003620616"/>
                    </a:ext>
                  </a:extLst>
                </a:gridCol>
              </a:tblGrid>
              <a:tr h="23320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Category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Details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717612"/>
                  </a:ext>
                </a:extLst>
              </a:tr>
              <a:tr h="583014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Key Features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ERP stock check with vendor fallback (via APIs / emails)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0373080"/>
                  </a:ext>
                </a:extLst>
              </a:tr>
              <a:tr h="58301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Auto-request vendor inventory when internal stock is insufficient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628557"/>
                  </a:ext>
                </a:extLst>
              </a:tr>
              <a:tr h="3847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MTC &amp; Deviation attachments for compliance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3465836"/>
                  </a:ext>
                </a:extLst>
              </a:tr>
              <a:tr h="3847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Multi-vendor comparison (commercial &amp; technical fit)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2928198"/>
                  </a:ext>
                </a:extLst>
              </a:tr>
              <a:tr h="38478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Auto-alerts when own stock is low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4519747"/>
                  </a:ext>
                </a:extLst>
              </a:tr>
              <a:tr h="583014">
                <a:tc row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Technical Components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Vendor Database → SKU, stock, lead time, pricing records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5838580"/>
                  </a:ext>
                </a:extLst>
              </a:tr>
              <a:tr h="58301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ERP Sync → Real-time integration with ERP for stock validation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3887252"/>
                  </a:ext>
                </a:extLst>
              </a:tr>
              <a:tr h="583014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Vendor Integrations → API / email connectors for inventory updates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012596"/>
                  </a:ext>
                </a:extLst>
              </a:tr>
              <a:tr h="781239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Auto-Sync Inventory Levels → Continuous update of available quantities from ERP + vendors 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580334"/>
                  </a:ext>
                </a:extLst>
              </a:tr>
            </a:tbl>
          </a:graphicData>
        </a:graphic>
      </p:graphicFrame>
      <p:pic>
        <p:nvPicPr>
          <p:cNvPr id="7" name="object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0819B340-A9EF-4A18-7D69-895D691CDE2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5F1874F1-EB01-C637-FE96-870AC0B86722}"/>
              </a:ext>
            </a:extLst>
          </p:cNvPr>
          <p:cNvSpPr txBox="1">
            <a:spLocks/>
          </p:cNvSpPr>
          <p:nvPr/>
        </p:nvSpPr>
        <p:spPr>
          <a:xfrm>
            <a:off x="567334" y="160462"/>
            <a:ext cx="6254667" cy="9797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spc="-40">
                <a:solidFill>
                  <a:srgbClr val="000000"/>
                </a:solidFill>
              </a:rPr>
              <a:t>Global Inventory Setup – Technical Overview</a:t>
            </a:r>
            <a:endParaRPr lang="en-GB" sz="2000" b="1"/>
          </a:p>
          <a:p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4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1420B70D-822D-D724-DAA1-E85CF976F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A657660-901C-F089-4B3D-5E2EF5A9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A8EBD804-B63C-C403-93A9-2999803DAED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715" y="0"/>
            <a:ext cx="1557274" cy="502792"/>
          </a:xfrm>
          <a:prstGeom prst="rect">
            <a:avLst/>
          </a:prstGeom>
        </p:spPr>
      </p:pic>
      <p:pic>
        <p:nvPicPr>
          <p:cNvPr id="7" name="object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3C6DFD5F-C36E-7C1E-6F49-B63A830799F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0FFB306B-90AE-396B-AC36-EECC634299DF}"/>
              </a:ext>
            </a:extLst>
          </p:cNvPr>
          <p:cNvSpPr txBox="1">
            <a:spLocks/>
          </p:cNvSpPr>
          <p:nvPr/>
        </p:nvSpPr>
        <p:spPr>
          <a:xfrm>
            <a:off x="567334" y="160462"/>
            <a:ext cx="5835014" cy="9797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spc="-40">
                <a:solidFill>
                  <a:srgbClr val="000000"/>
                </a:solidFill>
              </a:rPr>
              <a:t>Price Estimation Module – Technical Overview</a:t>
            </a:r>
            <a:endParaRPr lang="en-US" sz="2000" b="1"/>
          </a:p>
          <a:p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AD53D2A-5EFA-1ADD-4F47-EB75F03428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7088849"/>
              </p:ext>
            </p:extLst>
          </p:nvPr>
        </p:nvGraphicFramePr>
        <p:xfrm>
          <a:off x="437391" y="1135912"/>
          <a:ext cx="10771490" cy="51206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96223">
                  <a:extLst>
                    <a:ext uri="{9D8B030D-6E8A-4147-A177-3AD203B41FA5}">
                      <a16:colId xmlns:a16="http://schemas.microsoft.com/office/drawing/2014/main" val="3334634644"/>
                    </a:ext>
                  </a:extLst>
                </a:gridCol>
                <a:gridCol w="5175267">
                  <a:extLst>
                    <a:ext uri="{9D8B030D-6E8A-4147-A177-3AD203B41FA5}">
                      <a16:colId xmlns:a16="http://schemas.microsoft.com/office/drawing/2014/main" val="2500161472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Category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Details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439606"/>
                  </a:ext>
                </a:extLst>
              </a:tr>
              <a:tr h="365760">
                <a:tc row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Key Features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Automated SKU pricing from composition + raw material (RM) prices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612276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Margin rules &amp; discount structures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1520031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Price history tracking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446176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Competitive offer generation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211223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Analytics dashboards for pricing insights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2018064"/>
                  </a:ext>
                </a:extLst>
              </a:tr>
              <a:tr h="365760">
                <a:tc rowSpan="7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>
                          <a:effectLst/>
                        </a:rPr>
                        <a:t>Technical Components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APIs to LME/SME → Fetch live raw material prices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056341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SKU Composition Database → Define % composition for each SKU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6576511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Conversion Cost Tables → Standardized cost additions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126303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Pricing Calculation Engine → Formula: </a:t>
                      </a:r>
                      <a:r>
                        <a:rPr lang="el-GR">
                          <a:effectLst/>
                        </a:rPr>
                        <a:t>Σ(</a:t>
                      </a:r>
                      <a:r>
                        <a:rPr lang="en-GB">
                          <a:effectLst/>
                        </a:rPr>
                        <a:t>Composition % × RM Price) + Conversion Cost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1937642"/>
                  </a:ext>
                </a:extLst>
              </a:tr>
              <a:tr h="36576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ERP / CRM Integration → Seamless pricing sync across systems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326757"/>
                  </a:ext>
                </a:extLst>
              </a:tr>
              <a:tr h="18288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Export Options → Excel / PDF reports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899481"/>
                  </a:ext>
                </a:extLst>
              </a:tr>
              <a:tr h="548640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effectLst/>
                        </a:rPr>
                        <a:t>- AVL &amp; Geography Checks → Compliance with approved vendor lists and regional restrictions </a:t>
                      </a:r>
                    </a:p>
                  </a:txBody>
                  <a:tcPr marL="0" marR="0" marT="0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144949"/>
                  </a:ext>
                </a:extLst>
              </a:tr>
            </a:tbl>
          </a:graphicData>
        </a:graphic>
      </p:graphicFrame>
      <p:pic>
        <p:nvPicPr>
          <p:cNvPr id="5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96DDFBC1-1C30-6C54-3B20-DF098E7E3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574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B42844B-C56B-40FE-204D-F7D43AC4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72E7CDA-B3D3-2050-4420-52C57FBCD67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715" y="0"/>
            <a:ext cx="1557274" cy="502792"/>
          </a:xfrm>
          <a:prstGeom prst="rect">
            <a:avLst/>
          </a:prstGeom>
        </p:spPr>
      </p:pic>
      <p:pic>
        <p:nvPicPr>
          <p:cNvPr id="7" name="object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217DA308-BF12-3AD3-3733-0DFD0833763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AD70600C-1EE9-0C43-29C2-902D3A11EDED}"/>
              </a:ext>
            </a:extLst>
          </p:cNvPr>
          <p:cNvSpPr txBox="1">
            <a:spLocks/>
          </p:cNvSpPr>
          <p:nvPr/>
        </p:nvSpPr>
        <p:spPr>
          <a:xfrm>
            <a:off x="522511" y="16085"/>
            <a:ext cx="5678132" cy="9797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spc="-40">
                <a:solidFill>
                  <a:srgbClr val="000000"/>
                </a:solidFill>
              </a:rPr>
              <a:t>Buy Back Module – Technical Overview</a:t>
            </a:r>
            <a:endParaRPr lang="en-US" sz="2000" b="1"/>
          </a:p>
          <a:p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151D04-0EA1-6267-50F5-2E37D8AE12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6603360"/>
              </p:ext>
            </p:extLst>
          </p:nvPr>
        </p:nvGraphicFramePr>
        <p:xfrm>
          <a:off x="515470" y="683558"/>
          <a:ext cx="11142620" cy="5486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571310">
                  <a:extLst>
                    <a:ext uri="{9D8B030D-6E8A-4147-A177-3AD203B41FA5}">
                      <a16:colId xmlns:a16="http://schemas.microsoft.com/office/drawing/2014/main" val="3468330293"/>
                    </a:ext>
                  </a:extLst>
                </a:gridCol>
                <a:gridCol w="5571310">
                  <a:extLst>
                    <a:ext uri="{9D8B030D-6E8A-4147-A177-3AD203B41FA5}">
                      <a16:colId xmlns:a16="http://schemas.microsoft.com/office/drawing/2014/main" val="33494469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Category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                                      Details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703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Key Features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 Link buyback requests to original enquiry/order (if Arrow-supplied)</a:t>
                      </a:r>
                      <a:br>
                        <a:rPr lang="en-GB"/>
                      </a:br>
                      <a:r>
                        <a:rPr lang="en-GB"/>
                        <a:t>- Negotiation workflows with customers/vendors</a:t>
                      </a:r>
                      <a:br>
                        <a:rPr lang="en-GB"/>
                      </a:br>
                      <a:r>
                        <a:rPr lang="en-GB"/>
                        <a:t>- MTC validation for compliance</a:t>
                      </a:r>
                      <a:br>
                        <a:rPr lang="en-GB"/>
                      </a:br>
                      <a:r>
                        <a:rPr lang="en-GB"/>
                        <a:t>- Approval workflows for buyback processing</a:t>
                      </a:r>
                      <a:br>
                        <a:rPr lang="en-GB"/>
                      </a:br>
                      <a:r>
                        <a:rPr lang="en-GB"/>
                        <a:t>- Auto inventory adjustment upon buyback</a:t>
                      </a:r>
                      <a:br>
                        <a:rPr lang="en-GB"/>
                      </a:br>
                      <a:r>
                        <a:rPr lang="en-GB"/>
                        <a:t>- Credit note / invoice generation</a:t>
                      </a:r>
                      <a:br>
                        <a:rPr lang="en-GB"/>
                      </a:br>
                      <a:r>
                        <a:rPr lang="en-GB"/>
                        <a:t>- Dashboards for:</a:t>
                      </a:r>
                      <a:br>
                        <a:rPr lang="en-GB"/>
                      </a:br>
                      <a:r>
                        <a:rPr lang="en-GB"/>
                        <a:t> • Buyback % vs Sales</a:t>
                      </a:r>
                      <a:br>
                        <a:rPr lang="en-GB"/>
                      </a:br>
                      <a:r>
                        <a:rPr lang="en-GB"/>
                        <a:t> • EPC-specific trends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58305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Technical Components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 </a:t>
                      </a:r>
                      <a:r>
                        <a:rPr lang="en-GB" b="1"/>
                        <a:t>Buyback Request ↔ Sales Order ID Linkage</a:t>
                      </a:r>
                      <a:r>
                        <a:rPr lang="en-GB"/>
                        <a:t> → Ensures traceability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Audit Trail</a:t>
                      </a:r>
                      <a:r>
                        <a:rPr lang="en-GB"/>
                        <a:t> → Full history of approvals, negotiations, and changes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Attachment Handling</a:t>
                      </a:r>
                      <a:r>
                        <a:rPr lang="en-GB"/>
                        <a:t> → Support for MTC, deviation, and related documents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ERP Integration</a:t>
                      </a:r>
                      <a:r>
                        <a:rPr lang="en-GB"/>
                        <a:t> → Sync buyback adjustments, credit notes, and invoices into ERP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581545"/>
                  </a:ext>
                </a:extLst>
              </a:tr>
            </a:tbl>
          </a:graphicData>
        </a:graphic>
      </p:graphicFrame>
      <p:pic>
        <p:nvPicPr>
          <p:cNvPr id="5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2031CEF9-6F73-4CCF-2A36-9828136FEE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53724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42C132A-CBB0-912A-E5AA-D7BCF1593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FEC48ED1-A465-CE25-EA6D-035079BD896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715" y="0"/>
            <a:ext cx="1557274" cy="502792"/>
          </a:xfrm>
          <a:prstGeom prst="rect">
            <a:avLst/>
          </a:prstGeom>
        </p:spPr>
      </p:pic>
      <p:pic>
        <p:nvPicPr>
          <p:cNvPr id="7" name="object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D9DE3321-CD0A-3BC5-A7E7-B587A5E116D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2270611E-A741-BEFE-DEBA-AAD1800E5374}"/>
              </a:ext>
            </a:extLst>
          </p:cNvPr>
          <p:cNvSpPr txBox="1">
            <a:spLocks/>
          </p:cNvSpPr>
          <p:nvPr/>
        </p:nvSpPr>
        <p:spPr>
          <a:xfrm>
            <a:off x="567334" y="160462"/>
            <a:ext cx="5691449" cy="97975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GB" sz="2000" b="1" spc="-40">
                <a:solidFill>
                  <a:srgbClr val="000000"/>
                </a:solidFill>
              </a:rPr>
              <a:t>Follow Up Module – Technical Overview</a:t>
            </a:r>
            <a:endParaRPr lang="en-US" sz="2000" b="1"/>
          </a:p>
          <a:p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  <a:p>
            <a:pPr marL="12700">
              <a:spcBef>
                <a:spcPts val="100"/>
              </a:spcBef>
            </a:pPr>
            <a:endParaRPr lang="en-US" sz="2000" b="1" spc="-40">
              <a:solidFill>
                <a:srgbClr val="000000"/>
              </a:solidFill>
              <a:ea typeface="Calibri"/>
              <a:cs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7EF50B-D504-705E-7120-14C5B6F57E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5899368"/>
              </p:ext>
            </p:extLst>
          </p:nvPr>
        </p:nvGraphicFramePr>
        <p:xfrm>
          <a:off x="883478" y="1093304"/>
          <a:ext cx="10783628" cy="466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91814">
                  <a:extLst>
                    <a:ext uri="{9D8B030D-6E8A-4147-A177-3AD203B41FA5}">
                      <a16:colId xmlns:a16="http://schemas.microsoft.com/office/drawing/2014/main" val="2384935733"/>
                    </a:ext>
                  </a:extLst>
                </a:gridCol>
                <a:gridCol w="5391814">
                  <a:extLst>
                    <a:ext uri="{9D8B030D-6E8A-4147-A177-3AD203B41FA5}">
                      <a16:colId xmlns:a16="http://schemas.microsoft.com/office/drawing/2014/main" val="251894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Category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Details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55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Key Features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- Automated 3-step follow-up sequence (Reminder → Value → Final Call)</a:t>
                      </a:r>
                      <a:br>
                        <a:rPr lang="en-GB"/>
                      </a:br>
                      <a:r>
                        <a:rPr lang="en-GB"/>
                        <a:t>- Auto-stop on customer reply; auto-resume for pending leads</a:t>
                      </a:r>
                      <a:br>
                        <a:rPr lang="en-GB"/>
                      </a:br>
                      <a:r>
                        <a:rPr lang="en-GB"/>
                        <a:t>- Predefined &amp; customizable templates</a:t>
                      </a:r>
                      <a:br>
                        <a:rPr lang="en-GB"/>
                      </a:br>
                      <a:r>
                        <a:rPr lang="en-GB"/>
                        <a:t>- Response tracking for each outreach</a:t>
                      </a:r>
                      <a:br>
                        <a:rPr lang="en-GB"/>
                      </a:br>
                      <a:r>
                        <a:rPr lang="en-GB"/>
                        <a:t>- Conversion analytics dashboards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466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Technical Components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GB"/>
                        <a:t>- </a:t>
                      </a:r>
                      <a:r>
                        <a:rPr lang="en-GB" b="1"/>
                        <a:t>CRM Linkage</a:t>
                      </a:r>
                      <a:r>
                        <a:rPr lang="en-GB"/>
                        <a:t> → Access to customer profiles &amp; lead status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ERP History Context</a:t>
                      </a:r>
                      <a:r>
                        <a:rPr lang="en-GB"/>
                        <a:t> → Reference past orders, enquiries, and interactions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Email Automation Engine</a:t>
                      </a:r>
                      <a:r>
                        <a:rPr lang="en-GB"/>
                        <a:t> → Schedule &amp; send follow-ups automatically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Dashboards</a:t>
                      </a:r>
                      <a:r>
                        <a:rPr lang="en-GB"/>
                        <a:t> → Monitor response rates, conversion ratio, and lost reasons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565345"/>
                  </a:ext>
                </a:extLst>
              </a:tr>
            </a:tbl>
          </a:graphicData>
        </a:graphic>
      </p:graphicFrame>
      <p:pic>
        <p:nvPicPr>
          <p:cNvPr id="4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C37AF2F4-6E72-5A1D-B6A8-0B997A8AE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090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8CA7464-9F5B-C8EF-3CC6-1BB816D62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BB93A739-E4AB-DFB9-20E8-4641212DEA1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715" y="0"/>
            <a:ext cx="1557274" cy="502792"/>
          </a:xfrm>
          <a:prstGeom prst="rect">
            <a:avLst/>
          </a:prstGeom>
        </p:spPr>
      </p:pic>
      <p:pic>
        <p:nvPicPr>
          <p:cNvPr id="7" name="object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D377A0BC-6D07-8EB4-E57E-702B0D92B7B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EDADBC30-7A6F-E343-EE9F-5A136C4E186D}"/>
              </a:ext>
            </a:extLst>
          </p:cNvPr>
          <p:cNvSpPr txBox="1">
            <a:spLocks/>
          </p:cNvSpPr>
          <p:nvPr/>
        </p:nvSpPr>
        <p:spPr>
          <a:xfrm>
            <a:off x="567334" y="160462"/>
            <a:ext cx="6453449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spc="-40">
                <a:solidFill>
                  <a:srgbClr val="000000"/>
                </a:solidFill>
              </a:rPr>
              <a:t>Survey / Feedback Module – </a:t>
            </a:r>
            <a:r>
              <a:rPr lang="en-US" sz="2000" b="1" spc="-40">
                <a:solidFill>
                  <a:srgbClr val="000000"/>
                </a:solidFill>
                <a:ea typeface="Calibri"/>
                <a:cs typeface="Calibri"/>
              </a:rPr>
              <a:t>Technical Overview</a:t>
            </a:r>
            <a:endParaRPr lang="en-US" sz="2000" b="1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0E4256-1FCA-91E3-ADE1-5D4B0E638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992944"/>
              </p:ext>
            </p:extLst>
          </p:nvPr>
        </p:nvGraphicFramePr>
        <p:xfrm>
          <a:off x="0" y="1097280"/>
          <a:ext cx="12192000" cy="4663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2090702664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2105888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Category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Details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9232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Key Features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 Surveys for both converted &amp; non-converted enquiries</a:t>
                      </a:r>
                      <a:br>
                        <a:rPr lang="en-GB"/>
                      </a:br>
                      <a:r>
                        <a:rPr lang="en-GB"/>
                        <a:t>- Predefined templates:</a:t>
                      </a:r>
                      <a:br>
                        <a:rPr lang="en-GB"/>
                      </a:br>
                      <a:r>
                        <a:rPr lang="en-GB"/>
                        <a:t> • Reasons for loss</a:t>
                      </a:r>
                      <a:br>
                        <a:rPr lang="en-GB"/>
                      </a:br>
                      <a:r>
                        <a:rPr lang="en-GB"/>
                        <a:t> • CSAT on Product / Pricing / Service / Delivery</a:t>
                      </a:r>
                      <a:br>
                        <a:rPr lang="en-GB"/>
                      </a:br>
                      <a:r>
                        <a:rPr lang="en-GB"/>
                        <a:t>- Dashboards for:</a:t>
                      </a:r>
                      <a:br>
                        <a:rPr lang="en-GB"/>
                      </a:br>
                      <a:r>
                        <a:rPr lang="en-GB"/>
                        <a:t> • % Satisfied customers</a:t>
                      </a:r>
                      <a:br>
                        <a:rPr lang="en-GB"/>
                      </a:br>
                      <a:r>
                        <a:rPr lang="en-GB"/>
                        <a:t> • Top loss reasons</a:t>
                      </a:r>
                      <a:br>
                        <a:rPr lang="en-GB"/>
                      </a:br>
                      <a:r>
                        <a:rPr lang="en-GB"/>
                        <a:t> • Key improvement areas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7056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b="1"/>
                        <a:t>Technical Components</a:t>
                      </a:r>
                      <a:endParaRPr lang="en-GB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- </a:t>
                      </a:r>
                      <a:r>
                        <a:rPr lang="en-GB" b="1"/>
                        <a:t>CRM Triggered Surveys</a:t>
                      </a:r>
                      <a:r>
                        <a:rPr lang="en-GB"/>
                        <a:t> → Automated initiation from enquiry/order status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Linkage to Enquiry / Order IDs</a:t>
                      </a:r>
                      <a:r>
                        <a:rPr lang="en-GB"/>
                        <a:t> → Ensures feedback traceability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Central Feedback Database</a:t>
                      </a:r>
                      <a:r>
                        <a:rPr lang="en-GB"/>
                        <a:t> → Unified repository for analysis</a:t>
                      </a:r>
                      <a:br>
                        <a:rPr lang="en-GB"/>
                      </a:br>
                      <a:r>
                        <a:rPr lang="en-GB"/>
                        <a:t>- </a:t>
                      </a:r>
                      <a:r>
                        <a:rPr lang="en-GB" b="1"/>
                        <a:t>ERP Mapping</a:t>
                      </a:r>
                      <a:r>
                        <a:rPr lang="en-GB"/>
                        <a:t> → Feedback linked with operational data for continuous improvement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231905"/>
                  </a:ext>
                </a:extLst>
              </a:tr>
            </a:tbl>
          </a:graphicData>
        </a:graphic>
      </p:graphicFrame>
      <p:pic>
        <p:nvPicPr>
          <p:cNvPr id="4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30AE0C11-5450-09AF-BA82-74333CE66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893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2CD7B55-8678-5537-235B-98367799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3D250851-AF92-D6DD-AC04-30B96E2D8C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715" y="100853"/>
            <a:ext cx="1557274" cy="502792"/>
          </a:xfrm>
          <a:prstGeom prst="rect">
            <a:avLst/>
          </a:prstGeom>
        </p:spPr>
      </p:pic>
      <p:pic>
        <p:nvPicPr>
          <p:cNvPr id="7" name="object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5103016A-CF84-25A4-D302-6196312990B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3A8523D7-6AEC-72F6-1CDD-C18BA5FD1D1C}"/>
              </a:ext>
            </a:extLst>
          </p:cNvPr>
          <p:cNvSpPr txBox="1">
            <a:spLocks/>
          </p:cNvSpPr>
          <p:nvPr/>
        </p:nvSpPr>
        <p:spPr>
          <a:xfrm>
            <a:off x="567334" y="160462"/>
            <a:ext cx="6453449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spc="-40">
                <a:solidFill>
                  <a:srgbClr val="000000"/>
                </a:solidFill>
                <a:ea typeface="+mj-lt"/>
                <a:cs typeface="+mj-lt"/>
              </a:rPr>
              <a:t>Phase-wise implementation</a:t>
            </a:r>
            <a:endParaRPr lang="en-US" sz="2000" b="1"/>
          </a:p>
        </p:txBody>
      </p:sp>
      <p:pic>
        <p:nvPicPr>
          <p:cNvPr id="4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94E2A0F0-41C9-DB20-7632-C8A0FA656B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DC4383-E58E-7C04-71D7-C9661E605348}"/>
              </a:ext>
            </a:extLst>
          </p:cNvPr>
          <p:cNvSpPr txBox="1"/>
          <p:nvPr/>
        </p:nvSpPr>
        <p:spPr>
          <a:xfrm>
            <a:off x="567018" y="981635"/>
            <a:ext cx="6889375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Phase 1 (</a:t>
            </a:r>
            <a:r>
              <a:rPr lang="en-US" b="1" dirty="0">
                <a:latin typeface="Calibri"/>
                <a:ea typeface="Calibri"/>
                <a:cs typeface="Calibri"/>
              </a:rPr>
              <a:t>CRM Application</a:t>
            </a:r>
            <a:r>
              <a:rPr lang="en-US" b="1" dirty="0"/>
              <a:t> – Part 1)</a:t>
            </a:r>
            <a:endParaRPr lang="en-US" b="1" dirty="0">
              <a:solidFill>
                <a:srgbClr val="000000"/>
              </a:solidFill>
            </a:endParaRPr>
          </a:p>
          <a:p>
            <a:r>
              <a:rPr lang="en-US" b="1" dirty="0"/>
              <a:t>Modules: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Enquiry Module</a:t>
            </a:r>
            <a:r>
              <a:rPr lang="en-US" dirty="0"/>
              <a:t> – Capture &amp; track all enquiries</a:t>
            </a:r>
            <a:br>
              <a:rPr lang="en-US" dirty="0"/>
            </a:br>
            <a:r>
              <a:rPr lang="en-US" dirty="0"/>
              <a:t>Follow-Up Module integrated with CRM for Inquiry tracking. Linked with ERP for client/order history. Client info, Inquiry details, response history. Follow-up status (mail sent, replied, closed). Response rates per follow-up stage. Conversion ratio from enquiries. Top reasons for lost enquiries.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Global Inventory Setup</a:t>
            </a:r>
            <a:r>
              <a:rPr lang="en-US" dirty="0"/>
              <a:t> – Centralized multi-location inventory</a:t>
            </a:r>
            <a:br>
              <a:rPr lang="en-US" dirty="0"/>
            </a:br>
            <a:r>
              <a:rPr lang="en-US" dirty="0"/>
              <a:t>Vendor name, SKU, stock, lead time, pricing Technical certificates (MTC, compliance) Arrow ERP stock linked with vendor APIs ,emails/others Auto-sync inventory levels Auto-alert when Arrow Pipes stock low → check vendors Own stock + Vendor fallback option Attach MTC + Deviation sheet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Price Estimation Module</a:t>
            </a:r>
            <a:r>
              <a:rPr lang="en-US" dirty="0"/>
              <a:t> – Automated quotations &amp; costing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6B3CA29-3487-6FF1-0DA2-F00059C78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0706" y="605117"/>
            <a:ext cx="4549589" cy="454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426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8DEB10E-3D4F-C83E-D270-32E2AB40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070970C4-27BF-AAF4-6857-4B191EBEADC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2715" y="100853"/>
            <a:ext cx="1557274" cy="502792"/>
          </a:xfrm>
          <a:prstGeom prst="rect">
            <a:avLst/>
          </a:prstGeom>
        </p:spPr>
      </p:pic>
      <p:pic>
        <p:nvPicPr>
          <p:cNvPr id="7" name="object 2" descr="A blue and white background&#10;&#10;AI-generated content may be incorrect.">
            <a:extLst>
              <a:ext uri="{FF2B5EF4-FFF2-40B4-BE49-F238E27FC236}">
                <a16:creationId xmlns:a16="http://schemas.microsoft.com/office/drawing/2014/main" id="{D6B16D29-4D97-1A40-E499-83739BAFC2B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08" y="4004"/>
            <a:ext cx="7440994" cy="596869"/>
          </a:xfrm>
          <a:prstGeom prst="rect">
            <a:avLst/>
          </a:prstGeom>
        </p:spPr>
      </p:pic>
      <p:sp>
        <p:nvSpPr>
          <p:cNvPr id="9" name="object 3">
            <a:extLst>
              <a:ext uri="{FF2B5EF4-FFF2-40B4-BE49-F238E27FC236}">
                <a16:creationId xmlns:a16="http://schemas.microsoft.com/office/drawing/2014/main" id="{A7CBB89A-1D8F-3B8C-B62A-C60EB4AD78C2}"/>
              </a:ext>
            </a:extLst>
          </p:cNvPr>
          <p:cNvSpPr txBox="1">
            <a:spLocks/>
          </p:cNvSpPr>
          <p:nvPr/>
        </p:nvSpPr>
        <p:spPr>
          <a:xfrm>
            <a:off x="567334" y="160462"/>
            <a:ext cx="6453449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spc="-40">
                <a:solidFill>
                  <a:srgbClr val="000000"/>
                </a:solidFill>
                <a:ea typeface="+mj-lt"/>
                <a:cs typeface="+mj-lt"/>
              </a:rPr>
              <a:t>Phase-wise implementation</a:t>
            </a:r>
            <a:endParaRPr lang="en-US" sz="2000" b="1"/>
          </a:p>
        </p:txBody>
      </p:sp>
      <p:pic>
        <p:nvPicPr>
          <p:cNvPr id="4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8BE15C46-1D4D-044E-FD07-215E9F036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120EA8-C085-1807-2BDC-D00C5A56D4B1}"/>
              </a:ext>
            </a:extLst>
          </p:cNvPr>
          <p:cNvSpPr txBox="1"/>
          <p:nvPr/>
        </p:nvSpPr>
        <p:spPr>
          <a:xfrm>
            <a:off x="365312" y="1138517"/>
            <a:ext cx="10990728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Phase 2 (Core CRM – Part 2)</a:t>
            </a:r>
          </a:p>
          <a:p>
            <a:r>
              <a:rPr lang="en-US" b="1" dirty="0"/>
              <a:t>Modules: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Follow-up Module</a:t>
            </a:r>
            <a:r>
              <a:rPr lang="en-US" dirty="0"/>
              <a:t> – Automated reminders &amp; client communication</a:t>
            </a:r>
          </a:p>
          <a:p>
            <a:pPr marL="228600" indent="-228600">
              <a:buFont typeface=""/>
              <a:buChar char="•"/>
            </a:pPr>
            <a:r>
              <a:rPr lang="en-US" b="1" dirty="0"/>
              <a:t>Survey/Feedback Module</a:t>
            </a:r>
            <a:r>
              <a:rPr lang="en-US" dirty="0"/>
              <a:t> – Collect &amp; analyze customer insights</a:t>
            </a:r>
          </a:p>
        </p:txBody>
      </p:sp>
    </p:spTree>
    <p:extLst>
      <p:ext uri="{BB962C8B-B14F-4D97-AF65-F5344CB8AC3E}">
        <p14:creationId xmlns:p14="http://schemas.microsoft.com/office/powerpoint/2010/main" val="36651143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749" y="72897"/>
            <a:ext cx="11728500" cy="367408"/>
          </a:xfrm>
          <a:prstGeom prst="rect">
            <a:avLst/>
          </a:prstGeom>
        </p:spPr>
        <p:txBody>
          <a:bodyPr vert="horz" wrap="square" lIns="0" tIns="59055" rIns="0" bIns="0" rtlCol="0" anchor="t">
            <a:spAutoFit/>
          </a:bodyPr>
          <a:lstStyle/>
          <a:p>
            <a:pPr marL="51689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000000"/>
                </a:solidFill>
              </a:rPr>
              <a:t>Team</a:t>
            </a:r>
            <a:r>
              <a:rPr sz="2000" spc="-15">
                <a:solidFill>
                  <a:srgbClr val="000000"/>
                </a:solidFill>
              </a:rPr>
              <a:t> </a:t>
            </a:r>
            <a:r>
              <a:rPr sz="2000">
                <a:solidFill>
                  <a:srgbClr val="000000"/>
                </a:solidFill>
              </a:rPr>
              <a:t>Roles</a:t>
            </a:r>
            <a:r>
              <a:rPr sz="2000" spc="-25">
                <a:solidFill>
                  <a:srgbClr val="000000"/>
                </a:solidFill>
              </a:rPr>
              <a:t> </a:t>
            </a:r>
            <a:r>
              <a:rPr sz="2000">
                <a:solidFill>
                  <a:srgbClr val="000000"/>
                </a:solidFill>
              </a:rPr>
              <a:t>and</a:t>
            </a:r>
            <a:r>
              <a:rPr sz="2000" spc="-15">
                <a:solidFill>
                  <a:srgbClr val="000000"/>
                </a:solidFill>
              </a:rPr>
              <a:t> </a:t>
            </a:r>
            <a:r>
              <a:rPr sz="2000" spc="-10">
                <a:solidFill>
                  <a:srgbClr val="000000"/>
                </a:solidFill>
              </a:rPr>
              <a:t>Responsibilities</a:t>
            </a:r>
            <a:endParaRPr lang="en-US" sz="2000">
              <a:ea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36834" y="63246"/>
            <a:ext cx="1557274" cy="5027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52271" y="6186737"/>
            <a:ext cx="10310495" cy="2997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>
                <a:latin typeface="Calibri"/>
                <a:cs typeface="Calibri"/>
              </a:rPr>
              <a:t>Note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–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we</a:t>
            </a:r>
            <a:r>
              <a:rPr sz="1400" spc="-5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are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planning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to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deploy</a:t>
            </a:r>
            <a:r>
              <a:rPr lang="en-US" sz="1400" spc="-20">
                <a:latin typeface="Calibri"/>
                <a:cs typeface="Calibri"/>
              </a:rPr>
              <a:t> above </a:t>
            </a:r>
            <a:r>
              <a:rPr lang="en-US" sz="1400">
                <a:latin typeface="Calibri"/>
                <a:cs typeface="Calibri"/>
              </a:rPr>
              <a:t>team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on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Project,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but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25">
                <a:latin typeface="Calibri"/>
                <a:cs typeface="Calibri"/>
              </a:rPr>
              <a:t>Team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Members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and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Head</a:t>
            </a:r>
            <a:r>
              <a:rPr sz="1400" spc="-4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count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can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be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changed</a:t>
            </a:r>
            <a:r>
              <a:rPr sz="1400" spc="-2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according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to</a:t>
            </a:r>
            <a:r>
              <a:rPr sz="1400" spc="-35">
                <a:latin typeface="Calibri"/>
                <a:cs typeface="Calibri"/>
              </a:rPr>
              <a:t> </a:t>
            </a:r>
            <a:r>
              <a:rPr sz="1400">
                <a:latin typeface="Calibri"/>
                <a:cs typeface="Calibri"/>
              </a:rPr>
              <a:t>the</a:t>
            </a:r>
            <a:r>
              <a:rPr sz="1400" spc="-30">
                <a:latin typeface="Calibri"/>
                <a:cs typeface="Calibri"/>
              </a:rPr>
              <a:t> </a:t>
            </a:r>
            <a:r>
              <a:rPr sz="1400" spc="-10">
                <a:latin typeface="Calibri"/>
                <a:cs typeface="Calibri"/>
              </a:rPr>
              <a:t>availability</a:t>
            </a:r>
            <a:r>
              <a:rPr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5766" y="971245"/>
            <a:ext cx="918083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>
                <a:latin typeface="Calibri"/>
                <a:cs typeface="Calibri"/>
              </a:rPr>
              <a:t>Below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details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are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3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break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down</a:t>
            </a:r>
            <a:r>
              <a:rPr sz="1800" spc="-1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specific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roles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and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responsibilities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team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member involved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in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project.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It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emphasizes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crucial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role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-3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individual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plays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in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ensuring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project's </a:t>
            </a:r>
            <a:r>
              <a:rPr sz="1800">
                <a:latin typeface="Calibri"/>
                <a:cs typeface="Calibri"/>
              </a:rPr>
              <a:t>success.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Each</a:t>
            </a:r>
            <a:r>
              <a:rPr sz="1800" spc="-6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role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is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likely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paired</a:t>
            </a:r>
            <a:r>
              <a:rPr sz="1800" spc="-4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with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detailed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tasks</a:t>
            </a:r>
            <a:r>
              <a:rPr sz="1800" spc="-6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or</a:t>
            </a:r>
            <a:r>
              <a:rPr sz="1800" spc="-5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responsibilities,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highlighting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how</a:t>
            </a:r>
            <a:r>
              <a:rPr sz="1800" spc="-50">
                <a:latin typeface="Calibri"/>
                <a:cs typeface="Calibri"/>
              </a:rPr>
              <a:t> </a:t>
            </a:r>
            <a:r>
              <a:rPr sz="1800" spc="-20">
                <a:latin typeface="Calibri"/>
                <a:cs typeface="Calibri"/>
              </a:rPr>
              <a:t>each </a:t>
            </a:r>
            <a:r>
              <a:rPr sz="1800" spc="-10">
                <a:latin typeface="Calibri"/>
                <a:cs typeface="Calibri"/>
              </a:rPr>
              <a:t>contribution</a:t>
            </a:r>
            <a:r>
              <a:rPr sz="1800" spc="-2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adds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value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to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overall</a:t>
            </a:r>
            <a:r>
              <a:rPr sz="1800" spc="-35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goals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of</a:t>
            </a:r>
            <a:r>
              <a:rPr sz="1800" spc="-40">
                <a:latin typeface="Calibri"/>
                <a:cs typeface="Calibri"/>
              </a:rPr>
              <a:t> </a:t>
            </a:r>
            <a:r>
              <a:rPr sz="1800">
                <a:latin typeface="Calibri"/>
                <a:cs typeface="Calibri"/>
              </a:rPr>
              <a:t>the</a:t>
            </a:r>
            <a:r>
              <a:rPr sz="1800" spc="-25">
                <a:latin typeface="Calibri"/>
                <a:cs typeface="Calibri"/>
              </a:rPr>
              <a:t> </a:t>
            </a:r>
            <a:r>
              <a:rPr sz="1800" spc="-10">
                <a:latin typeface="Calibri"/>
                <a:cs typeface="Calibri"/>
              </a:rPr>
              <a:t>project.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8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C239579F-CB73-4039-9D3B-4B9C87FA3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36A3E05-03BA-C5D9-70FB-B45B90FE7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44565"/>
              </p:ext>
            </p:extLst>
          </p:nvPr>
        </p:nvGraphicFramePr>
        <p:xfrm>
          <a:off x="1053200" y="2371080"/>
          <a:ext cx="10145679" cy="3521670"/>
        </p:xfrm>
        <a:graphic>
          <a:graphicData uri="http://schemas.openxmlformats.org/drawingml/2006/table">
            <a:tbl>
              <a:tblPr bandRow="1">
                <a:tableStyleId>{B301B821-A1FF-4177-AEE7-76D212191A09}</a:tableStyleId>
              </a:tblPr>
              <a:tblGrid>
                <a:gridCol w="2886846">
                  <a:extLst>
                    <a:ext uri="{9D8B030D-6E8A-4147-A177-3AD203B41FA5}">
                      <a16:colId xmlns:a16="http://schemas.microsoft.com/office/drawing/2014/main" val="2978179885"/>
                    </a:ext>
                  </a:extLst>
                </a:gridCol>
                <a:gridCol w="1919002">
                  <a:extLst>
                    <a:ext uri="{9D8B030D-6E8A-4147-A177-3AD203B41FA5}">
                      <a16:colId xmlns:a16="http://schemas.microsoft.com/office/drawing/2014/main" val="2562399937"/>
                    </a:ext>
                  </a:extLst>
                </a:gridCol>
                <a:gridCol w="3821317">
                  <a:extLst>
                    <a:ext uri="{9D8B030D-6E8A-4147-A177-3AD203B41FA5}">
                      <a16:colId xmlns:a16="http://schemas.microsoft.com/office/drawing/2014/main" val="1430707465"/>
                    </a:ext>
                  </a:extLst>
                </a:gridCol>
                <a:gridCol w="1518514">
                  <a:extLst>
                    <a:ext uri="{9D8B030D-6E8A-4147-A177-3AD203B41FA5}">
                      <a16:colId xmlns:a16="http://schemas.microsoft.com/office/drawing/2014/main" val="3130322172"/>
                    </a:ext>
                  </a:extLst>
                </a:gridCol>
              </a:tblGrid>
              <a:tr h="392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Role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Head Count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Responsibilities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Location 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0078492"/>
                  </a:ext>
                </a:extLst>
              </a:tr>
              <a:tr h="392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UI/UX Experts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Design and Storylines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Remotely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15908178"/>
                  </a:ext>
                </a:extLst>
              </a:tr>
              <a:tr h="392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Front end developers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Web App Development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Remotely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86327886"/>
                  </a:ext>
                </a:extLst>
              </a:tr>
              <a:tr h="7708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AI Developers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AI Logics, Requirement Mappings with App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Remotely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330017244"/>
                  </a:ext>
                </a:extLst>
              </a:tr>
              <a:tr h="392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Pl </a:t>
                      </a:r>
                      <a:r>
                        <a:rPr lang="en-US" dirty="0" err="1">
                          <a:effectLst/>
                        </a:rPr>
                        <a:t>Sql</a:t>
                      </a:r>
                      <a:r>
                        <a:rPr lang="en-US" dirty="0">
                          <a:effectLst/>
                        </a:rPr>
                        <a:t> Developer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Create Tables , Procedures, triggers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u="none" strike="noStrike" noProof="0" dirty="0">
                          <a:solidFill>
                            <a:srgbClr val="000000"/>
                          </a:solidFill>
                          <a:effectLst/>
                        </a:rPr>
                        <a:t>Remotely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098518563"/>
                  </a:ext>
                </a:extLst>
              </a:tr>
              <a:tr h="392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Project Manager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End to End Delivery and Lead the Project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Hybrid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7284942"/>
                  </a:ext>
                </a:extLst>
              </a:tr>
              <a:tr h="392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Business Analyst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Requirement Understanding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On Site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31143309"/>
                  </a:ext>
                </a:extLst>
              </a:tr>
              <a:tr h="3929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Manual Tester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Testing the quality of the web App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effectLst/>
                        </a:rPr>
                        <a:t>Remotely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396152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8" y="3242"/>
            <a:ext cx="7440994" cy="59686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67619" y="83185"/>
            <a:ext cx="1614804" cy="562991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31749" y="72897"/>
            <a:ext cx="11728500" cy="32060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sz="2000">
                <a:solidFill>
                  <a:srgbClr val="000000"/>
                </a:solidFill>
              </a:rPr>
              <a:t>Project</a:t>
            </a:r>
            <a:r>
              <a:rPr sz="2000" spc="-100">
                <a:solidFill>
                  <a:srgbClr val="000000"/>
                </a:solidFill>
              </a:rPr>
              <a:t> </a:t>
            </a:r>
            <a:r>
              <a:rPr sz="2000" spc="-10">
                <a:solidFill>
                  <a:srgbClr val="000000"/>
                </a:solidFill>
              </a:rPr>
              <a:t>Deliverables</a:t>
            </a:r>
            <a:r>
              <a:rPr sz="2000" spc="-80">
                <a:solidFill>
                  <a:srgbClr val="000000"/>
                </a:solidFill>
              </a:rPr>
              <a:t> </a:t>
            </a:r>
            <a:r>
              <a:rPr sz="2000">
                <a:solidFill>
                  <a:srgbClr val="000000"/>
                </a:solidFill>
              </a:rPr>
              <a:t>Completion</a:t>
            </a:r>
            <a:r>
              <a:rPr sz="2000" spc="-95">
                <a:solidFill>
                  <a:srgbClr val="000000"/>
                </a:solidFill>
              </a:rPr>
              <a:t> </a:t>
            </a:r>
            <a:r>
              <a:rPr sz="2000" spc="-10">
                <a:solidFill>
                  <a:srgbClr val="000000"/>
                </a:solidFill>
              </a:rPr>
              <a:t>Funnel</a:t>
            </a:r>
            <a:endParaRPr lang="en-US" sz="2000" spc="-10">
              <a:solidFill>
                <a:srgbClr val="000000"/>
              </a:solidFill>
              <a:ea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7481" y="1273469"/>
            <a:ext cx="10802940" cy="5102889"/>
          </a:xfrm>
          <a:prstGeom prst="rect">
            <a:avLst/>
          </a:prstGeom>
        </p:spPr>
      </p:pic>
      <p:pic>
        <p:nvPicPr>
          <p:cNvPr id="7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33A1532D-A728-7D7D-521A-7EC029080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C4495-C5BC-3571-E45B-0EF4AC478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47">
            <a:extLst>
              <a:ext uri="{FF2B5EF4-FFF2-40B4-BE49-F238E27FC236}">
                <a16:creationId xmlns:a16="http://schemas.microsoft.com/office/drawing/2014/main" id="{F372822D-24D6-8BA0-7B40-EB83B3FC2A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2" y="-70062"/>
            <a:ext cx="7447471" cy="602177"/>
          </a:xfrm>
          <a:prstGeom prst="rect">
            <a:avLst/>
          </a:prstGeom>
        </p:spPr>
      </p:pic>
      <p:sp>
        <p:nvSpPr>
          <p:cNvPr id="49" name="Text 0">
            <a:extLst>
              <a:ext uri="{FF2B5EF4-FFF2-40B4-BE49-F238E27FC236}">
                <a16:creationId xmlns:a16="http://schemas.microsoft.com/office/drawing/2014/main" id="{432B2A78-51D5-72BA-9816-DF31684C089F}"/>
              </a:ext>
            </a:extLst>
          </p:cNvPr>
          <p:cNvSpPr/>
          <p:nvPr/>
        </p:nvSpPr>
        <p:spPr>
          <a:xfrm>
            <a:off x="-292392" y="63207"/>
            <a:ext cx="3205341" cy="5027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>
            <a:defPPr>
              <a:defRPr lang="en-US"/>
            </a:defPPr>
            <a:lvl1pPr marL="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0985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61970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4295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93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904924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85909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66893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47878" algn="l" defTabSz="761970" rtl="0" eaLnBrk="1" latinLnBrk="0" hangingPunct="1"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2400"/>
              </a:spcBef>
            </a:pPr>
            <a:r>
              <a:rPr lang="en-IN" sz="2000" b="1" kern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Project Cost </a:t>
            </a:r>
            <a:endParaRPr lang="en-US" sz="2000" b="1" kern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7" name="object 10">
            <a:extLst>
              <a:ext uri="{FF2B5EF4-FFF2-40B4-BE49-F238E27FC236}">
                <a16:creationId xmlns:a16="http://schemas.microsoft.com/office/drawing/2014/main" id="{E088A2B4-8E3E-6E86-135C-8E7C151B903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236825" y="63207"/>
            <a:ext cx="1557333" cy="50279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8E3AA73-C98F-E369-A2AC-EFC83D80FE9E}"/>
              </a:ext>
            </a:extLst>
          </p:cNvPr>
          <p:cNvSpPr txBox="1"/>
          <p:nvPr/>
        </p:nvSpPr>
        <p:spPr>
          <a:xfrm>
            <a:off x="11043" y="672422"/>
            <a:ext cx="12084311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/>
            <a:r>
              <a:rPr lang="en-IN" dirty="0">
                <a:effectLst/>
                <a:latin typeface="Calibri"/>
                <a:ea typeface="Calibri"/>
                <a:cs typeface="Calibri"/>
              </a:rPr>
              <a:t>We anticipate completing the project within </a:t>
            </a:r>
            <a:r>
              <a:rPr lang="en-IN" dirty="0">
                <a:latin typeface="Calibri"/>
                <a:ea typeface="Calibri"/>
                <a:cs typeface="Calibri"/>
              </a:rPr>
              <a:t>6</a:t>
            </a:r>
            <a:r>
              <a:rPr lang="en-IN" dirty="0">
                <a:effectLst/>
                <a:latin typeface="Calibri"/>
                <a:ea typeface="Calibri"/>
                <a:cs typeface="Calibri"/>
              </a:rPr>
              <a:t> </a:t>
            </a:r>
            <a:r>
              <a:rPr lang="en-IN" dirty="0">
                <a:latin typeface="Calibri"/>
                <a:ea typeface="Calibri"/>
                <a:cs typeface="Calibri"/>
              </a:rPr>
              <a:t>Months</a:t>
            </a:r>
            <a:r>
              <a:rPr lang="en-IN" dirty="0">
                <a:effectLst/>
                <a:latin typeface="Calibri"/>
                <a:ea typeface="Calibri"/>
                <a:cs typeface="Calibri"/>
              </a:rPr>
              <a:t>. Following that, we’ll dedicate an additional 1</a:t>
            </a:r>
            <a:r>
              <a:rPr lang="en-IN" dirty="0">
                <a:latin typeface="Calibri"/>
                <a:ea typeface="Calibri"/>
                <a:cs typeface="Calibri"/>
              </a:rPr>
              <a:t> months</a:t>
            </a:r>
            <a:r>
              <a:rPr lang="en-IN" dirty="0">
                <a:effectLst/>
                <a:latin typeface="Calibri"/>
                <a:ea typeface="Calibri"/>
                <a:cs typeface="Calibri"/>
              </a:rPr>
              <a:t> to thorough </a:t>
            </a:r>
          </a:p>
          <a:p>
            <a:pPr marL="228600"/>
            <a:r>
              <a:rPr lang="en-IN" dirty="0">
                <a:effectLst/>
                <a:latin typeface="Calibri"/>
                <a:ea typeface="Calibri"/>
                <a:cs typeface="Calibri"/>
              </a:rPr>
              <a:t>bug fixing, drawing from both ongoing internal testing and external testing feedback, to ensure the highest quality and performance.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228600"/>
            <a:endParaRPr lang="en-IN" dirty="0">
              <a:latin typeface="Calibri"/>
              <a:ea typeface="Calibri"/>
              <a:cs typeface="Calibri"/>
            </a:endParaRPr>
          </a:p>
          <a:p>
            <a:pPr marL="228600"/>
            <a:br>
              <a:rPr lang="en-IN" dirty="0">
                <a:effectLst/>
                <a:latin typeface="Calibri"/>
                <a:ea typeface="Calibri"/>
                <a:cs typeface="Calibri"/>
              </a:rPr>
            </a:br>
            <a:endParaRPr lang="en-US">
              <a:effectLst/>
              <a:latin typeface="Calibri"/>
              <a:ea typeface="Calibri"/>
              <a:cs typeface="Calibri"/>
            </a:endParaRPr>
          </a:p>
          <a:p>
            <a:pPr marL="228600"/>
            <a:endParaRPr lang="en-US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2" name="Rectangle 1">
            <a:extLst>
              <a:ext uri="{FF2B5EF4-FFF2-40B4-BE49-F238E27FC236}">
                <a16:creationId xmlns:a16="http://schemas.microsoft.com/office/drawing/2014/main" id="{539120C9-A900-0DFB-2413-732A6AEA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866" y="2063215"/>
            <a:ext cx="21813249" cy="651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12696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36353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35375" algn="l"/>
              </a:tabLst>
            </a:pPr>
            <a:endParaRPr kumimoji="0" lang="en-US" altLang="en-US" sz="13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635375" algn="l"/>
              </a:tabLst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2" descr="Arrow Pipes and Fittings FZCO | Pipe Fitting and Accessories">
            <a:extLst>
              <a:ext uri="{FF2B5EF4-FFF2-40B4-BE49-F238E27FC236}">
                <a16:creationId xmlns:a16="http://schemas.microsoft.com/office/drawing/2014/main" id="{DDFBBD21-1A72-B3AA-0361-296F3F351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7434" y="83788"/>
            <a:ext cx="1493185" cy="442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C51E86-170C-90AA-3B69-B4098AA95A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39880"/>
              </p:ext>
            </p:extLst>
          </p:nvPr>
        </p:nvGraphicFramePr>
        <p:xfrm>
          <a:off x="636652" y="2191304"/>
          <a:ext cx="10076410" cy="347408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53593">
                  <a:extLst>
                    <a:ext uri="{9D8B030D-6E8A-4147-A177-3AD203B41FA5}">
                      <a16:colId xmlns:a16="http://schemas.microsoft.com/office/drawing/2014/main" val="304640074"/>
                    </a:ext>
                  </a:extLst>
                </a:gridCol>
                <a:gridCol w="7822817">
                  <a:extLst>
                    <a:ext uri="{9D8B030D-6E8A-4147-A177-3AD203B41FA5}">
                      <a16:colId xmlns:a16="http://schemas.microsoft.com/office/drawing/2014/main" val="3267470217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Sr. No.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</a:rPr>
                        <a:t>Module Name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38898894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CRM Application including Frameworks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6897087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Enquiry Module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144635667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Global Inventory Setup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755166203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Price Estimation Module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90204878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Follow up Module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04609266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Survey/Feedback Module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5175789"/>
                  </a:ext>
                </a:extLst>
              </a:tr>
              <a:tr h="32893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>
                          <a:effectLst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>
                          <a:effectLst/>
                        </a:rPr>
                        <a:t>Integrations with existing ERP &amp; Security+ Cloud </a:t>
                      </a:r>
                      <a:endParaRPr lang="en-US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2507180"/>
                  </a:ext>
                </a:extLst>
              </a:tr>
              <a:tr h="3289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>
                          <a:effectLst/>
                          <a:latin typeface="Calibri"/>
                        </a:rPr>
                        <a:t>Deployments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 dirty="0">
                          <a:effectLst/>
                          <a:latin typeface="Calibri"/>
                        </a:rPr>
                        <a:t>Application deployment across agreed environments</a:t>
                      </a:r>
                      <a:endParaRPr lang="en-US" dirty="0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02383958"/>
                  </a:ext>
                </a:extLst>
              </a:tr>
              <a:tr h="3289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>
                          <a:effectLst/>
                          <a:latin typeface="Calibri"/>
                        </a:rPr>
                        <a:t>Additional Activity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>
                          <a:effectLst/>
                          <a:latin typeface="Calibri"/>
                        </a:rPr>
                        <a:t>1 Month Free Support, Training, Documentation, and Source Code handover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endParaRPr lang="en-US" dirty="0"/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07704848"/>
                  </a:ext>
                </a:extLst>
              </a:tr>
              <a:tr h="32892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>
                          <a:effectLst/>
                          <a:latin typeface="Calibri"/>
                        </a:rPr>
                        <a:t>Additional Activity</a:t>
                      </a:r>
                      <a:endParaRPr lang="en-US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b="0" i="0" u="none" strike="noStrike" noProof="0">
                          <a:effectLst/>
                          <a:latin typeface="Calibri"/>
                        </a:rPr>
                        <a:t>Data Migration (up to 15 days of effort)</a:t>
                      </a:r>
                      <a:endParaRPr lang="en-US">
                        <a:effectLst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455975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295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FC997E59C58F4993318BC1DE17DCAB" ma:contentTypeVersion="16" ma:contentTypeDescription="Create a new document." ma:contentTypeScope="" ma:versionID="f69e775d1c7de539c05528c5bd225975">
  <xsd:schema xmlns:xsd="http://www.w3.org/2001/XMLSchema" xmlns:xs="http://www.w3.org/2001/XMLSchema" xmlns:p="http://schemas.microsoft.com/office/2006/metadata/properties" xmlns:ns3="752a7c57-c27a-4e82-afdb-4ba119b37e98" xmlns:ns4="fa872942-a2e2-44e3-8936-e4e9bc788661" targetNamespace="http://schemas.microsoft.com/office/2006/metadata/properties" ma:root="true" ma:fieldsID="6d74d822ba9c1f374205256dd12c8f2e" ns3:_="" ns4:_="">
    <xsd:import namespace="752a7c57-c27a-4e82-afdb-4ba119b37e98"/>
    <xsd:import namespace="fa872942-a2e2-44e3-8936-e4e9bc788661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SearchPropertie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2a7c57-c27a-4e82-afdb-4ba119b37e98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872942-a2e2-44e3-8936-e4e9bc788661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52a7c57-c27a-4e82-afdb-4ba119b37e98" xsi:nil="true"/>
  </documentManagement>
</p:properties>
</file>

<file path=customXml/itemProps1.xml><?xml version="1.0" encoding="utf-8"?>
<ds:datastoreItem xmlns:ds="http://schemas.openxmlformats.org/officeDocument/2006/customXml" ds:itemID="{648AAB95-3AD6-4EAA-9DC5-8E69F4E29F15}">
  <ds:schemaRefs>
    <ds:schemaRef ds:uri="752a7c57-c27a-4e82-afdb-4ba119b37e98"/>
    <ds:schemaRef ds:uri="fa872942-a2e2-44e3-8936-e4e9bc78866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6D2230D-7C42-4F86-99B1-FFBD4F59C8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3ED47E3-205A-416D-A95D-6346AF94BC4F}">
  <ds:schemaRefs>
    <ds:schemaRef ds:uri="752a7c57-c27a-4e82-afdb-4ba119b37e98"/>
    <ds:schemaRef ds:uri="fa872942-a2e2-44e3-8936-e4e9bc78866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2774</Words>
  <Application>Microsoft Office PowerPoint</Application>
  <PresentationFormat>Widescreen</PresentationFormat>
  <Paragraphs>274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Cambria</vt:lpstr>
      <vt:lpstr>Times New Roman</vt:lpstr>
      <vt:lpstr>Office Theme</vt:lpstr>
      <vt:lpstr>Technical Commercial Document for :- Arrow Pipes AI Application Modules Development  </vt:lpstr>
      <vt:lpstr>Integration Project Methodology and Responsibilities</vt:lpstr>
      <vt:lpstr>Executive Summary – Arrow Pipes CRM + Azure AI Solution</vt:lpstr>
      <vt:lpstr>Challenges at Arrow Pipes: </vt:lpstr>
      <vt:lpstr>Challenges at Arrow Pipes: </vt:lpstr>
      <vt:lpstr>Our Solution </vt:lpstr>
      <vt:lpstr>Business Outcomes</vt:lpstr>
      <vt:lpstr>Business Outcomes</vt:lpstr>
      <vt:lpstr>Scope of Work</vt:lpstr>
      <vt:lpstr>What you will get</vt:lpstr>
      <vt:lpstr>PowerPoint Presentation</vt:lpstr>
      <vt:lpstr>What you will get</vt:lpstr>
      <vt:lpstr>System Architecture </vt:lpstr>
      <vt:lpstr>Technology Stack</vt:lpstr>
      <vt:lpstr>Enquiry Module –Technical Overview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Team Roles and Responsibilities</vt:lpstr>
      <vt:lpstr>Project Deliverables Completion Funnel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Pawas Goyal</dc:creator>
  <cp:lastModifiedBy>Pawas Goyal</cp:lastModifiedBy>
  <cp:revision>63</cp:revision>
  <dcterms:created xsi:type="dcterms:W3CDTF">2025-09-09T11:03:57Z</dcterms:created>
  <dcterms:modified xsi:type="dcterms:W3CDTF">2026-03-02T08:41:35Z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2025-04-08T00:00:00Z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2025-09-09T00:00:00Z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entTypeId">
    <vt:lpwstr>0x01010075FC997E59C58F4993318BC1DE17DCAB</vt:lpwstr>
  </property>
</Properties>
</file>